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Lst>
  <p:sldSz cx="18288000" cy="10287000"/>
  <p:notesSz cx="6858000" cy="9144000"/>
  <p:embeddedFontLst>
    <p:embeddedFont>
      <p:font typeface="Poppins" panose="00000500000000000000" pitchFamily="2" charset="0"/>
      <p:regular r:id="rId11"/>
    </p:embeddedFont>
    <p:embeddedFont>
      <p:font typeface="Poppins Bold" panose="00000800000000000000" charset="0"/>
      <p:regular r:id="rId1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52" d="100"/>
          <a:sy n="52" d="100"/>
        </p:scale>
        <p:origin x="850"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font" Target="fonts/font2.fntdata"/><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font" Target="fonts/font1.fntdata"/><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4/27/2026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4/27/2026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4/27/2026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4/27/2026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4/27/2026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4/27/2026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2.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hyperlink" Target="https://shorturl.at/s01LK" TargetMode="External"/></Relationships>
</file>

<file path=ppt/slides/_rels/slide3.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hyperlink" Target="https://shorturl.at/s01LK" TargetMode="External"/></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hyperlink" Target="https://shorturl.at/s01LK" TargetMode="External"/></Relationships>
</file>

<file path=ppt/slides/_rels/slide5.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hyperlink" Target="https://shorturl.at/s01LK" TargetMode="External"/></Relationships>
</file>

<file path=ppt/slides/_rels/slide6.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hyperlink" Target="https://shorturl.at/s01LK" TargetMode="External"/></Relationships>
</file>

<file path=ppt/slides/_rels/slide7.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hyperlink" Target="https://shorturl.at/s01LK" TargetMode="External"/></Relationships>
</file>

<file path=ppt/slides/_rels/slide8.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hyperlink" Target="https://shorturl.at/s01LK" TargetMode="External"/></Relationships>
</file>

<file path=ppt/slides/_rels/slide9.xml.rels><?xml version="1.0" encoding="UTF-8" standalone="yes"?>
<Relationships xmlns="http://schemas.openxmlformats.org/package/2006/relationships"><Relationship Id="rId3" Type="http://schemas.openxmlformats.org/officeDocument/2006/relationships/image" Target="../media/image3.sv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4.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Freeform 3"/>
          <p:cNvSpPr/>
          <p:nvPr/>
        </p:nvSpPr>
        <p:spPr>
          <a:xfrm>
            <a:off x="11004232" y="2015966"/>
            <a:ext cx="6255068" cy="6255068"/>
          </a:xfrm>
          <a:custGeom>
            <a:avLst/>
            <a:gdLst/>
            <a:ahLst/>
            <a:cxnLst/>
            <a:rect l="l" t="t" r="r" b="b"/>
            <a:pathLst>
              <a:path w="6255068" h="6255068">
                <a:moveTo>
                  <a:pt x="0" y="0"/>
                </a:moveTo>
                <a:lnTo>
                  <a:pt x="6255068" y="0"/>
                </a:lnTo>
                <a:lnTo>
                  <a:pt x="6255068" y="6255068"/>
                </a:lnTo>
                <a:lnTo>
                  <a:pt x="0" y="625506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grpSp>
        <p:nvGrpSpPr>
          <p:cNvPr id="4" name="Group 4"/>
          <p:cNvGrpSpPr/>
          <p:nvPr/>
        </p:nvGrpSpPr>
        <p:grpSpPr>
          <a:xfrm>
            <a:off x="1028700" y="5384437"/>
            <a:ext cx="6947174" cy="1438812"/>
            <a:chOff x="0" y="0"/>
            <a:chExt cx="1829708" cy="378946"/>
          </a:xfrm>
        </p:grpSpPr>
        <p:sp>
          <p:nvSpPr>
            <p:cNvPr id="5" name="Freeform 5"/>
            <p:cNvSpPr/>
            <p:nvPr/>
          </p:nvSpPr>
          <p:spPr>
            <a:xfrm>
              <a:off x="0" y="0"/>
              <a:ext cx="1829708" cy="378946"/>
            </a:xfrm>
            <a:custGeom>
              <a:avLst/>
              <a:gdLst/>
              <a:ahLst/>
              <a:cxnLst/>
              <a:rect l="l" t="t" r="r" b="b"/>
              <a:pathLst>
                <a:path w="1829708" h="378946">
                  <a:moveTo>
                    <a:pt x="111440" y="0"/>
                  </a:moveTo>
                  <a:lnTo>
                    <a:pt x="1718269" y="0"/>
                  </a:lnTo>
                  <a:cubicBezTo>
                    <a:pt x="1779815" y="0"/>
                    <a:pt x="1829708" y="49893"/>
                    <a:pt x="1829708" y="111440"/>
                  </a:cubicBezTo>
                  <a:lnTo>
                    <a:pt x="1829708" y="267506"/>
                  </a:lnTo>
                  <a:cubicBezTo>
                    <a:pt x="1829708" y="297062"/>
                    <a:pt x="1817968" y="325407"/>
                    <a:pt x="1797068" y="346306"/>
                  </a:cubicBezTo>
                  <a:cubicBezTo>
                    <a:pt x="1776169" y="367205"/>
                    <a:pt x="1747824" y="378946"/>
                    <a:pt x="1718269" y="378946"/>
                  </a:cubicBezTo>
                  <a:lnTo>
                    <a:pt x="111440" y="378946"/>
                  </a:lnTo>
                  <a:cubicBezTo>
                    <a:pt x="81884" y="378946"/>
                    <a:pt x="53539" y="367205"/>
                    <a:pt x="32640" y="346306"/>
                  </a:cubicBezTo>
                  <a:cubicBezTo>
                    <a:pt x="11741" y="325407"/>
                    <a:pt x="0" y="297062"/>
                    <a:pt x="0" y="267506"/>
                  </a:cubicBezTo>
                  <a:lnTo>
                    <a:pt x="0" y="111440"/>
                  </a:lnTo>
                  <a:cubicBezTo>
                    <a:pt x="0" y="81884"/>
                    <a:pt x="11741" y="53539"/>
                    <a:pt x="32640" y="32640"/>
                  </a:cubicBezTo>
                  <a:cubicBezTo>
                    <a:pt x="53539" y="11741"/>
                    <a:pt x="81884" y="0"/>
                    <a:pt x="111440" y="0"/>
                  </a:cubicBezTo>
                  <a:close/>
                </a:path>
              </a:pathLst>
            </a:custGeom>
            <a:ln w="85725" cap="rnd">
              <a:solidFill>
                <a:srgbClr val="5CA3B2"/>
              </a:solidFill>
              <a:prstDash val="solid"/>
              <a:round/>
            </a:ln>
          </p:spPr>
          <p:txBody>
            <a:bodyPr/>
            <a:lstStyle/>
            <a:p>
              <a:endParaRPr lang="en-IN"/>
            </a:p>
          </p:txBody>
        </p:sp>
        <p:sp>
          <p:nvSpPr>
            <p:cNvPr id="6" name="TextBox 6"/>
            <p:cNvSpPr txBox="1"/>
            <p:nvPr/>
          </p:nvSpPr>
          <p:spPr>
            <a:xfrm>
              <a:off x="0" y="-57150"/>
              <a:ext cx="1829708" cy="436096"/>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560343" y="9889125"/>
            <a:ext cx="19408687" cy="996493"/>
            <a:chOff x="0" y="0"/>
            <a:chExt cx="5111753" cy="262451"/>
          </a:xfrm>
        </p:grpSpPr>
        <p:sp>
          <p:nvSpPr>
            <p:cNvPr id="8" name="Freeform 8"/>
            <p:cNvSpPr/>
            <p:nvPr/>
          </p:nvSpPr>
          <p:spPr>
            <a:xfrm>
              <a:off x="0" y="0"/>
              <a:ext cx="5111753" cy="262451"/>
            </a:xfrm>
            <a:custGeom>
              <a:avLst/>
              <a:gdLst/>
              <a:ahLst/>
              <a:cxnLst/>
              <a:rect l="l" t="t" r="r" b="b"/>
              <a:pathLst>
                <a:path w="5111753" h="262451">
                  <a:moveTo>
                    <a:pt x="0" y="0"/>
                  </a:moveTo>
                  <a:lnTo>
                    <a:pt x="5111753" y="0"/>
                  </a:lnTo>
                  <a:lnTo>
                    <a:pt x="5111753" y="262451"/>
                  </a:lnTo>
                  <a:lnTo>
                    <a:pt x="0" y="262451"/>
                  </a:lnTo>
                  <a:close/>
                </a:path>
              </a:pathLst>
            </a:custGeom>
            <a:solidFill>
              <a:srgbClr val="5CA3B2"/>
            </a:solidFill>
          </p:spPr>
          <p:txBody>
            <a:bodyPr/>
            <a:lstStyle/>
            <a:p>
              <a:endParaRPr lang="en-IN"/>
            </a:p>
          </p:txBody>
        </p:sp>
        <p:sp>
          <p:nvSpPr>
            <p:cNvPr id="9" name="TextBox 9"/>
            <p:cNvSpPr txBox="1"/>
            <p:nvPr/>
          </p:nvSpPr>
          <p:spPr>
            <a:xfrm>
              <a:off x="0" y="-57150"/>
              <a:ext cx="5111753" cy="319601"/>
            </a:xfrm>
            <a:prstGeom prst="rect">
              <a:avLst/>
            </a:prstGeom>
          </p:spPr>
          <p:txBody>
            <a:bodyPr lIns="50800" tIns="50800" rIns="50800" bIns="50800" rtlCol="0" anchor="ctr"/>
            <a:lstStyle/>
            <a:p>
              <a:pPr algn="ctr">
                <a:lnSpc>
                  <a:spcPts val="2659"/>
                </a:lnSpc>
                <a:spcBef>
                  <a:spcPct val="0"/>
                </a:spcBef>
              </a:pPr>
              <a:endParaRPr/>
            </a:p>
          </p:txBody>
        </p:sp>
      </p:grpSp>
      <p:sp>
        <p:nvSpPr>
          <p:cNvPr id="10" name="Freeform 10"/>
          <p:cNvSpPr/>
          <p:nvPr/>
        </p:nvSpPr>
        <p:spPr>
          <a:xfrm>
            <a:off x="1028700" y="1028700"/>
            <a:ext cx="642386" cy="729984"/>
          </a:xfrm>
          <a:custGeom>
            <a:avLst/>
            <a:gdLst/>
            <a:ahLst/>
            <a:cxnLst/>
            <a:rect l="l" t="t" r="r" b="b"/>
            <a:pathLst>
              <a:path w="642386" h="729984">
                <a:moveTo>
                  <a:pt x="0" y="0"/>
                </a:moveTo>
                <a:lnTo>
                  <a:pt x="642386" y="0"/>
                </a:lnTo>
                <a:lnTo>
                  <a:pt x="642386" y="729984"/>
                </a:lnTo>
                <a:lnTo>
                  <a:pt x="0" y="729984"/>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1" name="TextBox 11"/>
          <p:cNvSpPr txBox="1"/>
          <p:nvPr/>
        </p:nvSpPr>
        <p:spPr>
          <a:xfrm>
            <a:off x="1028700" y="4490309"/>
            <a:ext cx="11446681" cy="653191"/>
          </a:xfrm>
          <a:prstGeom prst="rect">
            <a:avLst/>
          </a:prstGeom>
        </p:spPr>
        <p:txBody>
          <a:bodyPr lIns="0" tIns="0" rIns="0" bIns="0" rtlCol="0" anchor="t">
            <a:spAutoFit/>
          </a:bodyPr>
          <a:lstStyle/>
          <a:p>
            <a:pPr algn="l">
              <a:lnSpc>
                <a:spcPts val="5059"/>
              </a:lnSpc>
              <a:spcBef>
                <a:spcPct val="0"/>
              </a:spcBef>
            </a:pPr>
            <a:r>
              <a:rPr lang="en-US" sz="3613" b="1">
                <a:solidFill>
                  <a:srgbClr val="FFFFFF"/>
                </a:solidFill>
                <a:latin typeface="Poppins Bold"/>
                <a:ea typeface="Poppins Bold"/>
                <a:cs typeface="Poppins Bold"/>
                <a:sym typeface="Poppins Bold"/>
              </a:rPr>
              <a:t>Comprehensive JEE Advanced Analysis</a:t>
            </a:r>
          </a:p>
        </p:txBody>
      </p:sp>
      <p:sp>
        <p:nvSpPr>
          <p:cNvPr id="12" name="TextBox 12"/>
          <p:cNvSpPr txBox="1"/>
          <p:nvPr/>
        </p:nvSpPr>
        <p:spPr>
          <a:xfrm>
            <a:off x="1459431" y="5733955"/>
            <a:ext cx="6085713" cy="635000"/>
          </a:xfrm>
          <a:prstGeom prst="rect">
            <a:avLst/>
          </a:prstGeom>
        </p:spPr>
        <p:txBody>
          <a:bodyPr lIns="0" tIns="0" rIns="0" bIns="0" rtlCol="0" anchor="t">
            <a:spAutoFit/>
          </a:bodyPr>
          <a:lstStyle/>
          <a:p>
            <a:pPr algn="ctr">
              <a:lnSpc>
                <a:spcPts val="4900"/>
              </a:lnSpc>
              <a:spcBef>
                <a:spcPct val="0"/>
              </a:spcBef>
            </a:pPr>
            <a:r>
              <a:rPr lang="en-US" sz="3500">
                <a:solidFill>
                  <a:srgbClr val="FFFFFF"/>
                </a:solidFill>
                <a:latin typeface="Poppins"/>
                <a:ea typeface="Poppins"/>
                <a:cs typeface="Poppins"/>
                <a:sym typeface="Poppins"/>
              </a:rPr>
              <a:t>The Story from 2011 - 2025</a:t>
            </a:r>
          </a:p>
        </p:txBody>
      </p:sp>
      <p:sp>
        <p:nvSpPr>
          <p:cNvPr id="13" name="TextBox 13"/>
          <p:cNvSpPr txBox="1"/>
          <p:nvPr/>
        </p:nvSpPr>
        <p:spPr>
          <a:xfrm>
            <a:off x="1095375" y="1095877"/>
            <a:ext cx="3037713" cy="509905"/>
          </a:xfrm>
          <a:prstGeom prst="rect">
            <a:avLst/>
          </a:prstGeom>
        </p:spPr>
        <p:txBody>
          <a:bodyPr lIns="0" tIns="0" rIns="0" bIns="0" rtlCol="0" anchor="t">
            <a:spAutoFit/>
          </a:bodyPr>
          <a:lstStyle/>
          <a:p>
            <a:pPr algn="r">
              <a:lnSpc>
                <a:spcPts val="3919"/>
              </a:lnSpc>
              <a:spcBef>
                <a:spcPct val="0"/>
              </a:spcBef>
            </a:pPr>
            <a:r>
              <a:rPr lang="en-US" sz="2799">
                <a:solidFill>
                  <a:srgbClr val="FFFFFF"/>
                </a:solidFill>
                <a:latin typeface="Poppins"/>
                <a:ea typeface="Poppins"/>
                <a:cs typeface="Poppins"/>
                <a:sym typeface="Poppins"/>
              </a:rPr>
              <a:t>Major Project</a:t>
            </a:r>
          </a:p>
        </p:txBody>
      </p:sp>
      <p:sp>
        <p:nvSpPr>
          <p:cNvPr id="14" name="TextBox 14"/>
          <p:cNvSpPr txBox="1"/>
          <p:nvPr/>
        </p:nvSpPr>
        <p:spPr>
          <a:xfrm>
            <a:off x="1028700" y="8816975"/>
            <a:ext cx="5486150" cy="441325"/>
          </a:xfrm>
          <a:prstGeom prst="rect">
            <a:avLst/>
          </a:prstGeom>
        </p:spPr>
        <p:txBody>
          <a:bodyPr lIns="0" tIns="0" rIns="0" bIns="0" rtlCol="0" anchor="t">
            <a:spAutoFit/>
          </a:bodyPr>
          <a:lstStyle/>
          <a:p>
            <a:pPr marL="0" lvl="0" indent="0" algn="l">
              <a:lnSpc>
                <a:spcPts val="3499"/>
              </a:lnSpc>
              <a:spcBef>
                <a:spcPct val="0"/>
              </a:spcBef>
            </a:pPr>
            <a:r>
              <a:rPr lang="en-US" sz="2499">
                <a:solidFill>
                  <a:srgbClr val="FFFFFF"/>
                </a:solidFill>
                <a:latin typeface="Poppins"/>
                <a:ea typeface="Poppins"/>
                <a:cs typeface="Poppins"/>
                <a:sym typeface="Poppins"/>
              </a:rPr>
              <a:t>Data Analytics And Visualization </a:t>
            </a:r>
          </a:p>
        </p:txBody>
      </p:sp>
      <p:sp>
        <p:nvSpPr>
          <p:cNvPr id="15" name="TextBox 15"/>
          <p:cNvSpPr txBox="1"/>
          <p:nvPr/>
        </p:nvSpPr>
        <p:spPr>
          <a:xfrm>
            <a:off x="13879711" y="8816975"/>
            <a:ext cx="3379589" cy="441325"/>
          </a:xfrm>
          <a:prstGeom prst="rect">
            <a:avLst/>
          </a:prstGeom>
        </p:spPr>
        <p:txBody>
          <a:bodyPr lIns="0" tIns="0" rIns="0" bIns="0" rtlCol="0" anchor="t">
            <a:spAutoFit/>
          </a:bodyPr>
          <a:lstStyle/>
          <a:p>
            <a:pPr algn="ctr">
              <a:lnSpc>
                <a:spcPts val="3499"/>
              </a:lnSpc>
              <a:spcBef>
                <a:spcPct val="0"/>
              </a:spcBef>
            </a:pPr>
            <a:r>
              <a:rPr lang="en-US" sz="2499">
                <a:solidFill>
                  <a:srgbClr val="FFFFFF"/>
                </a:solidFill>
                <a:latin typeface="Poppins"/>
                <a:ea typeface="Poppins"/>
                <a:cs typeface="Poppins"/>
                <a:sym typeface="Poppins"/>
              </a:rPr>
              <a:t>Madan Vishwakarma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TextBox 3"/>
          <p:cNvSpPr txBox="1"/>
          <p:nvPr/>
        </p:nvSpPr>
        <p:spPr>
          <a:xfrm>
            <a:off x="1028700" y="1066800"/>
            <a:ext cx="7460996" cy="510159"/>
          </a:xfrm>
          <a:prstGeom prst="rect">
            <a:avLst/>
          </a:prstGeom>
        </p:spPr>
        <p:txBody>
          <a:bodyPr lIns="0" tIns="0" rIns="0" bIns="0" rtlCol="0" anchor="t">
            <a:spAutoFit/>
          </a:bodyPr>
          <a:lstStyle/>
          <a:p>
            <a:pPr marL="0" lvl="0" indent="0" algn="l">
              <a:lnSpc>
                <a:spcPts val="3528"/>
              </a:lnSpc>
            </a:pPr>
            <a:r>
              <a:rPr lang="en-US" sz="3600" b="1">
                <a:solidFill>
                  <a:srgbClr val="FFFFFF"/>
                </a:solidFill>
                <a:latin typeface="Poppins Bold"/>
                <a:ea typeface="Poppins Bold"/>
                <a:cs typeface="Poppins Bold"/>
                <a:sym typeface="Poppins Bold"/>
              </a:rPr>
              <a:t>Project Overview &amp; Objectives</a:t>
            </a:r>
          </a:p>
        </p:txBody>
      </p:sp>
      <p:sp>
        <p:nvSpPr>
          <p:cNvPr id="4" name="TextBox 4"/>
          <p:cNvSpPr txBox="1"/>
          <p:nvPr/>
        </p:nvSpPr>
        <p:spPr>
          <a:xfrm>
            <a:off x="1028700" y="1682484"/>
            <a:ext cx="16230600" cy="7203440"/>
          </a:xfrm>
          <a:prstGeom prst="rect">
            <a:avLst/>
          </a:prstGeom>
        </p:spPr>
        <p:txBody>
          <a:bodyPr lIns="0" tIns="0" rIns="0" bIns="0" rtlCol="0" anchor="t">
            <a:spAutoFit/>
          </a:bodyPr>
          <a:lstStyle/>
          <a:p>
            <a:pPr algn="just">
              <a:lnSpc>
                <a:spcPts val="4059"/>
              </a:lnSpc>
            </a:pPr>
            <a:r>
              <a:rPr lang="en-US" sz="2899">
                <a:solidFill>
                  <a:srgbClr val="FFFFFF"/>
                </a:solidFill>
                <a:latin typeface="Poppins"/>
                <a:ea typeface="Poppins"/>
                <a:cs typeface="Poppins"/>
                <a:sym typeface="Poppins"/>
              </a:rPr>
              <a:t>The Project is acknowledging the viewers with the comprehensive analysis of one of the Toughest engineering exam in the country, which serves as the gateway to the premier technical institutes of the country. Understanding the importance of the exam, there should be some information that is available for all, which gives major insights of the exam in concise way.</a:t>
            </a:r>
          </a:p>
          <a:p>
            <a:pPr algn="just">
              <a:lnSpc>
                <a:spcPts val="4059"/>
              </a:lnSpc>
            </a:pPr>
            <a:r>
              <a:rPr lang="en-US" sz="2899">
                <a:solidFill>
                  <a:srgbClr val="FFFFFF"/>
                </a:solidFill>
                <a:latin typeface="Poppins"/>
                <a:ea typeface="Poppins"/>
                <a:cs typeface="Poppins"/>
                <a:sym typeface="Poppins"/>
              </a:rPr>
              <a:t>Here, this Analysis helps the wide range of audience, whether the student want to see trends of paper, cut-off’s, number of candidates, category and reservation. It also serves the one who just want to know the exam behaviour.</a:t>
            </a:r>
          </a:p>
          <a:p>
            <a:pPr algn="just">
              <a:lnSpc>
                <a:spcPts val="4059"/>
              </a:lnSpc>
            </a:pPr>
            <a:endParaRPr lang="en-US" sz="2899">
              <a:solidFill>
                <a:srgbClr val="FFFFFF"/>
              </a:solidFill>
              <a:latin typeface="Poppins"/>
              <a:ea typeface="Poppins"/>
              <a:cs typeface="Poppins"/>
              <a:sym typeface="Poppins"/>
            </a:endParaRPr>
          </a:p>
          <a:p>
            <a:pPr algn="just">
              <a:lnSpc>
                <a:spcPts val="4059"/>
              </a:lnSpc>
            </a:pPr>
            <a:r>
              <a:rPr lang="en-US" sz="2899">
                <a:solidFill>
                  <a:srgbClr val="FFFFFF"/>
                </a:solidFill>
                <a:latin typeface="Poppins"/>
                <a:ea typeface="Poppins"/>
                <a:cs typeface="Poppins"/>
                <a:sym typeface="Poppins"/>
              </a:rPr>
              <a:t>Objectives of the project : </a:t>
            </a:r>
          </a:p>
          <a:p>
            <a:pPr marL="626107" lvl="1" indent="-313054" algn="l">
              <a:lnSpc>
                <a:spcPts val="4059"/>
              </a:lnSpc>
              <a:buFont typeface="Arial"/>
              <a:buChar char="•"/>
            </a:pPr>
            <a:r>
              <a:rPr lang="en-US" sz="2899">
                <a:solidFill>
                  <a:srgbClr val="FFFFFF"/>
                </a:solidFill>
                <a:latin typeface="Poppins"/>
                <a:ea typeface="Poppins"/>
                <a:cs typeface="Poppins"/>
                <a:sym typeface="Poppins"/>
              </a:rPr>
              <a:t>The projects aims to serve the audience with the easy visual understanding of data over years.</a:t>
            </a:r>
          </a:p>
          <a:p>
            <a:pPr marL="626107" lvl="1" indent="-313054" algn="l">
              <a:lnSpc>
                <a:spcPts val="4059"/>
              </a:lnSpc>
              <a:buFont typeface="Arial"/>
              <a:buChar char="•"/>
            </a:pPr>
            <a:r>
              <a:rPr lang="en-US" sz="2899">
                <a:solidFill>
                  <a:srgbClr val="FFFFFF"/>
                </a:solidFill>
                <a:latin typeface="Poppins"/>
                <a:ea typeface="Poppins"/>
                <a:cs typeface="Poppins"/>
                <a:sym typeface="Poppins"/>
              </a:rPr>
              <a:t>It aims to reduce the manual hectic reading of Reports published by JEE advanced every year with average number of pages greater than 500.</a:t>
            </a:r>
          </a:p>
        </p:txBody>
      </p:sp>
      <p:grpSp>
        <p:nvGrpSpPr>
          <p:cNvPr id="5" name="Group 5"/>
          <p:cNvGrpSpPr/>
          <p:nvPr/>
        </p:nvGrpSpPr>
        <p:grpSpPr>
          <a:xfrm>
            <a:off x="-560343" y="9889125"/>
            <a:ext cx="19408687" cy="996493"/>
            <a:chOff x="0" y="0"/>
            <a:chExt cx="5111753" cy="262451"/>
          </a:xfrm>
        </p:grpSpPr>
        <p:sp>
          <p:nvSpPr>
            <p:cNvPr id="6" name="Freeform 6"/>
            <p:cNvSpPr/>
            <p:nvPr/>
          </p:nvSpPr>
          <p:spPr>
            <a:xfrm>
              <a:off x="0" y="0"/>
              <a:ext cx="5111753" cy="262451"/>
            </a:xfrm>
            <a:custGeom>
              <a:avLst/>
              <a:gdLst/>
              <a:ahLst/>
              <a:cxnLst/>
              <a:rect l="l" t="t" r="r" b="b"/>
              <a:pathLst>
                <a:path w="5111753" h="262451">
                  <a:moveTo>
                    <a:pt x="0" y="0"/>
                  </a:moveTo>
                  <a:lnTo>
                    <a:pt x="5111753" y="0"/>
                  </a:lnTo>
                  <a:lnTo>
                    <a:pt x="5111753" y="262451"/>
                  </a:lnTo>
                  <a:lnTo>
                    <a:pt x="0" y="262451"/>
                  </a:lnTo>
                  <a:close/>
                </a:path>
              </a:pathLst>
            </a:custGeom>
            <a:solidFill>
              <a:srgbClr val="5CA3B2"/>
            </a:solidFill>
          </p:spPr>
          <p:txBody>
            <a:bodyPr/>
            <a:lstStyle/>
            <a:p>
              <a:endParaRPr lang="en-IN"/>
            </a:p>
          </p:txBody>
        </p:sp>
        <p:sp>
          <p:nvSpPr>
            <p:cNvPr id="7" name="TextBox 7"/>
            <p:cNvSpPr txBox="1"/>
            <p:nvPr/>
          </p:nvSpPr>
          <p:spPr>
            <a:xfrm>
              <a:off x="0" y="-57150"/>
              <a:ext cx="5111753" cy="319601"/>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4042428" y="1028700"/>
            <a:ext cx="642386" cy="729984"/>
          </a:xfrm>
          <a:custGeom>
            <a:avLst/>
            <a:gdLst/>
            <a:ahLst/>
            <a:cxnLst/>
            <a:rect l="l" t="t" r="r" b="b"/>
            <a:pathLst>
              <a:path w="642386" h="729984">
                <a:moveTo>
                  <a:pt x="0" y="0"/>
                </a:moveTo>
                <a:lnTo>
                  <a:pt x="642387" y="0"/>
                </a:lnTo>
                <a:lnTo>
                  <a:pt x="642387" y="729984"/>
                </a:lnTo>
                <a:lnTo>
                  <a:pt x="0" y="72998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TextBox 9"/>
          <p:cNvSpPr txBox="1"/>
          <p:nvPr/>
        </p:nvSpPr>
        <p:spPr>
          <a:xfrm>
            <a:off x="14004328" y="1130167"/>
            <a:ext cx="3037713" cy="483870"/>
          </a:xfrm>
          <a:prstGeom prst="rect">
            <a:avLst/>
          </a:prstGeom>
        </p:spPr>
        <p:txBody>
          <a:bodyPr lIns="0" tIns="0" rIns="0" bIns="0" rtlCol="0" anchor="t">
            <a:spAutoFit/>
          </a:bodyPr>
          <a:lstStyle/>
          <a:p>
            <a:pPr algn="r">
              <a:lnSpc>
                <a:spcPts val="3779"/>
              </a:lnSpc>
              <a:spcBef>
                <a:spcPct val="0"/>
              </a:spcBef>
            </a:pPr>
            <a:r>
              <a:rPr lang="en-US" sz="2699">
                <a:solidFill>
                  <a:srgbClr val="FFFFFF"/>
                </a:solidFill>
                <a:latin typeface="Poppins"/>
                <a:ea typeface="Poppins"/>
                <a:cs typeface="Poppins"/>
                <a:sym typeface="Poppins"/>
              </a:rPr>
              <a:t>Major Project</a:t>
            </a:r>
          </a:p>
        </p:txBody>
      </p:sp>
      <p:sp>
        <p:nvSpPr>
          <p:cNvPr id="10" name="TextBox 10"/>
          <p:cNvSpPr txBox="1"/>
          <p:nvPr/>
        </p:nvSpPr>
        <p:spPr>
          <a:xfrm>
            <a:off x="12347314" y="9133525"/>
            <a:ext cx="4911986" cy="441325"/>
          </a:xfrm>
          <a:prstGeom prst="rect">
            <a:avLst/>
          </a:prstGeom>
        </p:spPr>
        <p:txBody>
          <a:bodyPr lIns="0" tIns="0" rIns="0" bIns="0" rtlCol="0" anchor="t">
            <a:spAutoFit/>
          </a:bodyPr>
          <a:lstStyle/>
          <a:p>
            <a:pPr marL="0" lvl="0" indent="0" algn="r">
              <a:lnSpc>
                <a:spcPts val="3499"/>
              </a:lnSpc>
              <a:spcBef>
                <a:spcPct val="0"/>
              </a:spcBef>
            </a:pPr>
            <a:r>
              <a:rPr lang="en-US" sz="2499" dirty="0">
                <a:solidFill>
                  <a:srgbClr val="FFFFFF"/>
                </a:solidFill>
                <a:latin typeface="Poppins"/>
                <a:ea typeface="Poppins"/>
                <a:cs typeface="Poppins"/>
                <a:sym typeface="Poppins"/>
                <a:hlinkClick r:id="rId4"/>
              </a:rPr>
              <a:t>https://shorturl.at/s01LK</a:t>
            </a:r>
            <a:endParaRPr lang="en-US" sz="2499" dirty="0">
              <a:solidFill>
                <a:srgbClr val="FFFFFF"/>
              </a:solidFill>
              <a:latin typeface="Poppins"/>
              <a:ea typeface="Poppins"/>
              <a:cs typeface="Poppins"/>
              <a:sym typeface="Poppins"/>
            </a:endParaRPr>
          </a:p>
        </p:txBody>
      </p:sp>
      <p:sp>
        <p:nvSpPr>
          <p:cNvPr id="11" name="Freeform 11"/>
          <p:cNvSpPr/>
          <p:nvPr/>
        </p:nvSpPr>
        <p:spPr>
          <a:xfrm>
            <a:off x="1028700" y="8255873"/>
            <a:ext cx="860834" cy="1002427"/>
          </a:xfrm>
          <a:custGeom>
            <a:avLst/>
            <a:gdLst/>
            <a:ahLst/>
            <a:cxnLst/>
            <a:rect l="l" t="t" r="r" b="b"/>
            <a:pathLst>
              <a:path w="860834" h="1002427">
                <a:moveTo>
                  <a:pt x="0" y="0"/>
                </a:moveTo>
                <a:lnTo>
                  <a:pt x="860834" y="0"/>
                </a:lnTo>
                <a:lnTo>
                  <a:pt x="860834" y="1002427"/>
                </a:lnTo>
                <a:lnTo>
                  <a:pt x="0" y="1002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TextBox 3"/>
          <p:cNvSpPr txBox="1"/>
          <p:nvPr/>
        </p:nvSpPr>
        <p:spPr>
          <a:xfrm>
            <a:off x="1028700" y="1066800"/>
            <a:ext cx="7460996" cy="510159"/>
          </a:xfrm>
          <a:prstGeom prst="rect">
            <a:avLst/>
          </a:prstGeom>
        </p:spPr>
        <p:txBody>
          <a:bodyPr lIns="0" tIns="0" rIns="0" bIns="0" rtlCol="0" anchor="t">
            <a:spAutoFit/>
          </a:bodyPr>
          <a:lstStyle/>
          <a:p>
            <a:pPr marL="0" lvl="0" indent="0" algn="l">
              <a:lnSpc>
                <a:spcPts val="3528"/>
              </a:lnSpc>
            </a:pPr>
            <a:r>
              <a:rPr lang="en-US" sz="3600" b="1">
                <a:solidFill>
                  <a:srgbClr val="FFFFFF"/>
                </a:solidFill>
                <a:latin typeface="Poppins Bold"/>
                <a:ea typeface="Poppins Bold"/>
                <a:cs typeface="Poppins Bold"/>
                <a:sym typeface="Poppins Bold"/>
              </a:rPr>
              <a:t>Data Acquisition</a:t>
            </a:r>
          </a:p>
        </p:txBody>
      </p:sp>
      <p:sp>
        <p:nvSpPr>
          <p:cNvPr id="4" name="TextBox 4"/>
          <p:cNvSpPr txBox="1"/>
          <p:nvPr/>
        </p:nvSpPr>
        <p:spPr>
          <a:xfrm>
            <a:off x="1028700" y="1682484"/>
            <a:ext cx="16230600" cy="7333611"/>
          </a:xfrm>
          <a:prstGeom prst="rect">
            <a:avLst/>
          </a:prstGeom>
        </p:spPr>
        <p:txBody>
          <a:bodyPr lIns="0" tIns="0" rIns="0" bIns="0" rtlCol="0" anchor="t">
            <a:spAutoFit/>
          </a:bodyPr>
          <a:lstStyle/>
          <a:p>
            <a:pPr marL="626107" lvl="1" indent="-313054" algn="l">
              <a:lnSpc>
                <a:spcPts val="4059"/>
              </a:lnSpc>
              <a:buFont typeface="Arial"/>
              <a:buChar char="•"/>
            </a:pPr>
            <a:r>
              <a:rPr lang="en-US" sz="2899" dirty="0">
                <a:solidFill>
                  <a:srgbClr val="FFFFFF"/>
                </a:solidFill>
                <a:latin typeface="Poppins"/>
                <a:ea typeface="Poppins"/>
                <a:cs typeface="Poppins"/>
                <a:sym typeface="Poppins"/>
              </a:rPr>
              <a:t>The data collection is done from the official reports published by JEE Advanced Organizing IIT, Information Brochures, and reliable coaching sites for unavailable data.  </a:t>
            </a:r>
          </a:p>
          <a:p>
            <a:pPr marL="626107" lvl="1" indent="-313054" algn="l">
              <a:lnSpc>
                <a:spcPts val="4059"/>
              </a:lnSpc>
              <a:buFont typeface="Arial"/>
              <a:buChar char="•"/>
            </a:pPr>
            <a:r>
              <a:rPr lang="en-US" sz="2899" dirty="0">
                <a:solidFill>
                  <a:srgbClr val="FFFFFF"/>
                </a:solidFill>
                <a:latin typeface="Poppins"/>
                <a:ea typeface="Poppins"/>
                <a:cs typeface="Poppins"/>
                <a:sym typeface="Poppins"/>
              </a:rPr>
              <a:t>One would be amazed to know that, maximum of the data published by JEE organizing body every years follows the different pattern and way, which made it really difficult to use automation tools for collecting data. Rather, it demanded manual intervention from the analyst.</a:t>
            </a:r>
          </a:p>
          <a:p>
            <a:pPr marL="626107" lvl="1" indent="-313054" algn="l">
              <a:lnSpc>
                <a:spcPts val="4059"/>
              </a:lnSpc>
              <a:buFont typeface="Arial"/>
              <a:buChar char="•"/>
            </a:pPr>
            <a:r>
              <a:rPr lang="en-US" sz="2899" dirty="0">
                <a:solidFill>
                  <a:srgbClr val="FFFFFF"/>
                </a:solidFill>
                <a:latin typeface="Poppins"/>
                <a:ea typeface="Poppins"/>
                <a:cs typeface="Poppins"/>
                <a:sym typeface="Poppins"/>
              </a:rPr>
              <a:t>some key problems occurred during collection:</a:t>
            </a:r>
          </a:p>
          <a:p>
            <a:pPr marL="626107" lvl="1" indent="-313054" algn="l">
              <a:lnSpc>
                <a:spcPts val="4059"/>
              </a:lnSpc>
              <a:buAutoNum type="arabicPeriod"/>
            </a:pPr>
            <a:r>
              <a:rPr lang="en-US" sz="2899" dirty="0">
                <a:solidFill>
                  <a:srgbClr val="FFFFFF"/>
                </a:solidFill>
                <a:latin typeface="Poppins"/>
                <a:ea typeface="Poppins"/>
                <a:cs typeface="Poppins"/>
                <a:sym typeface="Poppins"/>
              </a:rPr>
              <a:t> while Collecting the data for Parental Occupation for qualified students, due to non-uniformity of data, after 2018 there is no reliable data available, which made to bound our analysis from 2011 to 2018.</a:t>
            </a:r>
          </a:p>
          <a:p>
            <a:pPr marL="626107" lvl="1" indent="-313054" algn="l">
              <a:lnSpc>
                <a:spcPts val="4059"/>
              </a:lnSpc>
              <a:buAutoNum type="arabicPeriod"/>
            </a:pPr>
            <a:r>
              <a:rPr lang="en-US" sz="2899" dirty="0">
                <a:solidFill>
                  <a:srgbClr val="FFFFFF"/>
                </a:solidFill>
                <a:latin typeface="Poppins"/>
                <a:ea typeface="Poppins"/>
                <a:cs typeface="Poppins"/>
                <a:sym typeface="Poppins"/>
              </a:rPr>
              <a:t>For male and female participation data in examination, the 2015 data didn’t state it explicitly so it required automating it through excel formulas, by counting the females allotted IIT’s in that year.</a:t>
            </a:r>
          </a:p>
        </p:txBody>
      </p:sp>
      <p:grpSp>
        <p:nvGrpSpPr>
          <p:cNvPr id="5" name="Group 5"/>
          <p:cNvGrpSpPr/>
          <p:nvPr/>
        </p:nvGrpSpPr>
        <p:grpSpPr>
          <a:xfrm>
            <a:off x="-560343" y="9889125"/>
            <a:ext cx="19408687" cy="996493"/>
            <a:chOff x="0" y="0"/>
            <a:chExt cx="5111753" cy="262451"/>
          </a:xfrm>
        </p:grpSpPr>
        <p:sp>
          <p:nvSpPr>
            <p:cNvPr id="6" name="Freeform 6"/>
            <p:cNvSpPr/>
            <p:nvPr/>
          </p:nvSpPr>
          <p:spPr>
            <a:xfrm>
              <a:off x="0" y="0"/>
              <a:ext cx="5111753" cy="262451"/>
            </a:xfrm>
            <a:custGeom>
              <a:avLst/>
              <a:gdLst/>
              <a:ahLst/>
              <a:cxnLst/>
              <a:rect l="l" t="t" r="r" b="b"/>
              <a:pathLst>
                <a:path w="5111753" h="262451">
                  <a:moveTo>
                    <a:pt x="0" y="0"/>
                  </a:moveTo>
                  <a:lnTo>
                    <a:pt x="5111753" y="0"/>
                  </a:lnTo>
                  <a:lnTo>
                    <a:pt x="5111753" y="262451"/>
                  </a:lnTo>
                  <a:lnTo>
                    <a:pt x="0" y="262451"/>
                  </a:lnTo>
                  <a:close/>
                </a:path>
              </a:pathLst>
            </a:custGeom>
            <a:solidFill>
              <a:srgbClr val="5CA3B2"/>
            </a:solidFill>
          </p:spPr>
          <p:txBody>
            <a:bodyPr/>
            <a:lstStyle/>
            <a:p>
              <a:endParaRPr lang="en-IN"/>
            </a:p>
          </p:txBody>
        </p:sp>
        <p:sp>
          <p:nvSpPr>
            <p:cNvPr id="7" name="TextBox 7"/>
            <p:cNvSpPr txBox="1"/>
            <p:nvPr/>
          </p:nvSpPr>
          <p:spPr>
            <a:xfrm>
              <a:off x="0" y="-57150"/>
              <a:ext cx="5111753" cy="319601"/>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4042428" y="1028700"/>
            <a:ext cx="642386" cy="729984"/>
          </a:xfrm>
          <a:custGeom>
            <a:avLst/>
            <a:gdLst/>
            <a:ahLst/>
            <a:cxnLst/>
            <a:rect l="l" t="t" r="r" b="b"/>
            <a:pathLst>
              <a:path w="642386" h="729984">
                <a:moveTo>
                  <a:pt x="0" y="0"/>
                </a:moveTo>
                <a:lnTo>
                  <a:pt x="642387" y="0"/>
                </a:lnTo>
                <a:lnTo>
                  <a:pt x="642387" y="729984"/>
                </a:lnTo>
                <a:lnTo>
                  <a:pt x="0" y="72998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TextBox 9"/>
          <p:cNvSpPr txBox="1"/>
          <p:nvPr/>
        </p:nvSpPr>
        <p:spPr>
          <a:xfrm>
            <a:off x="14004328" y="1130167"/>
            <a:ext cx="3037713" cy="483870"/>
          </a:xfrm>
          <a:prstGeom prst="rect">
            <a:avLst/>
          </a:prstGeom>
        </p:spPr>
        <p:txBody>
          <a:bodyPr lIns="0" tIns="0" rIns="0" bIns="0" rtlCol="0" anchor="t">
            <a:spAutoFit/>
          </a:bodyPr>
          <a:lstStyle/>
          <a:p>
            <a:pPr algn="r">
              <a:lnSpc>
                <a:spcPts val="3779"/>
              </a:lnSpc>
              <a:spcBef>
                <a:spcPct val="0"/>
              </a:spcBef>
            </a:pPr>
            <a:r>
              <a:rPr lang="en-US" sz="2699">
                <a:solidFill>
                  <a:srgbClr val="FFFFFF"/>
                </a:solidFill>
                <a:latin typeface="Poppins"/>
                <a:ea typeface="Poppins"/>
                <a:cs typeface="Poppins"/>
                <a:sym typeface="Poppins"/>
              </a:rPr>
              <a:t>Major Project</a:t>
            </a:r>
          </a:p>
        </p:txBody>
      </p:sp>
      <p:sp>
        <p:nvSpPr>
          <p:cNvPr id="10" name="TextBox 10"/>
          <p:cNvSpPr txBox="1"/>
          <p:nvPr/>
        </p:nvSpPr>
        <p:spPr>
          <a:xfrm>
            <a:off x="12347314" y="9133525"/>
            <a:ext cx="4911986" cy="441325"/>
          </a:xfrm>
          <a:prstGeom prst="rect">
            <a:avLst/>
          </a:prstGeom>
        </p:spPr>
        <p:txBody>
          <a:bodyPr lIns="0" tIns="0" rIns="0" bIns="0" rtlCol="0" anchor="t">
            <a:spAutoFit/>
          </a:bodyPr>
          <a:lstStyle/>
          <a:p>
            <a:pPr marL="0" lvl="0" indent="0" algn="r">
              <a:lnSpc>
                <a:spcPts val="3499"/>
              </a:lnSpc>
              <a:spcBef>
                <a:spcPct val="0"/>
              </a:spcBef>
            </a:pPr>
            <a:r>
              <a:rPr lang="en-US" sz="2499" dirty="0">
                <a:solidFill>
                  <a:srgbClr val="FFFFFF"/>
                </a:solidFill>
                <a:latin typeface="Poppins"/>
                <a:ea typeface="Poppins"/>
                <a:cs typeface="Poppins"/>
                <a:sym typeface="Poppins"/>
                <a:hlinkClick r:id="rId4"/>
              </a:rPr>
              <a:t>https://shorturl.at/s01LK</a:t>
            </a:r>
            <a:endParaRPr lang="en-US" sz="2499" dirty="0">
              <a:solidFill>
                <a:srgbClr val="FFFFFF"/>
              </a:solidFill>
              <a:latin typeface="Poppins"/>
              <a:ea typeface="Poppins"/>
              <a:cs typeface="Poppins"/>
              <a:sym typeface="Poppins"/>
            </a:endParaRPr>
          </a:p>
        </p:txBody>
      </p:sp>
      <p:sp>
        <p:nvSpPr>
          <p:cNvPr id="11" name="Freeform 11"/>
          <p:cNvSpPr/>
          <p:nvPr/>
        </p:nvSpPr>
        <p:spPr>
          <a:xfrm>
            <a:off x="1028700" y="8255873"/>
            <a:ext cx="860834" cy="1002427"/>
          </a:xfrm>
          <a:custGeom>
            <a:avLst/>
            <a:gdLst/>
            <a:ahLst/>
            <a:cxnLst/>
            <a:rect l="l" t="t" r="r" b="b"/>
            <a:pathLst>
              <a:path w="860834" h="1002427">
                <a:moveTo>
                  <a:pt x="0" y="0"/>
                </a:moveTo>
                <a:lnTo>
                  <a:pt x="860834" y="0"/>
                </a:lnTo>
                <a:lnTo>
                  <a:pt x="860834" y="1002427"/>
                </a:lnTo>
                <a:lnTo>
                  <a:pt x="0" y="1002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TextBox 3"/>
          <p:cNvSpPr txBox="1"/>
          <p:nvPr/>
        </p:nvSpPr>
        <p:spPr>
          <a:xfrm>
            <a:off x="1028700" y="1066800"/>
            <a:ext cx="7460996" cy="510159"/>
          </a:xfrm>
          <a:prstGeom prst="rect">
            <a:avLst/>
          </a:prstGeom>
        </p:spPr>
        <p:txBody>
          <a:bodyPr lIns="0" tIns="0" rIns="0" bIns="0" rtlCol="0" anchor="t">
            <a:spAutoFit/>
          </a:bodyPr>
          <a:lstStyle/>
          <a:p>
            <a:pPr marL="0" lvl="0" indent="0" algn="l">
              <a:lnSpc>
                <a:spcPts val="3528"/>
              </a:lnSpc>
            </a:pPr>
            <a:r>
              <a:rPr lang="en-US" sz="3600" b="1">
                <a:solidFill>
                  <a:srgbClr val="FFFFFF"/>
                </a:solidFill>
                <a:latin typeface="Poppins Bold"/>
                <a:ea typeface="Poppins Bold"/>
                <a:cs typeface="Poppins Bold"/>
                <a:sym typeface="Poppins Bold"/>
              </a:rPr>
              <a:t>Data Cleaning &amp; Preprocessing</a:t>
            </a:r>
          </a:p>
        </p:txBody>
      </p:sp>
      <p:sp>
        <p:nvSpPr>
          <p:cNvPr id="4" name="TextBox 4"/>
          <p:cNvSpPr txBox="1"/>
          <p:nvPr/>
        </p:nvSpPr>
        <p:spPr>
          <a:xfrm>
            <a:off x="1028700" y="1682484"/>
            <a:ext cx="16230600" cy="7203440"/>
          </a:xfrm>
          <a:prstGeom prst="rect">
            <a:avLst/>
          </a:prstGeom>
        </p:spPr>
        <p:txBody>
          <a:bodyPr lIns="0" tIns="0" rIns="0" bIns="0" rtlCol="0" anchor="t">
            <a:spAutoFit/>
          </a:bodyPr>
          <a:lstStyle/>
          <a:p>
            <a:pPr marL="626107" lvl="1" indent="-313054" algn="l">
              <a:lnSpc>
                <a:spcPts val="4059"/>
              </a:lnSpc>
              <a:buFont typeface="Arial"/>
              <a:buChar char="•"/>
            </a:pPr>
            <a:r>
              <a:rPr lang="en-US" sz="2899" dirty="0">
                <a:solidFill>
                  <a:srgbClr val="FFFFFF"/>
                </a:solidFill>
                <a:latin typeface="Poppins"/>
                <a:ea typeface="Poppins"/>
                <a:cs typeface="Poppins"/>
                <a:sym typeface="Poppins"/>
              </a:rPr>
              <a:t>Handling Missing Values: A primary challenge was addressing data gaps within official documentation. For example, in years where reports did not explicitly state average marks, the information was sourced and verified through external web research and reliable educational archives.</a:t>
            </a:r>
          </a:p>
          <a:p>
            <a:pPr marL="626107" lvl="1" indent="-313054" algn="l">
              <a:lnSpc>
                <a:spcPts val="4059"/>
              </a:lnSpc>
              <a:buFont typeface="Arial"/>
              <a:buChar char="•"/>
            </a:pPr>
            <a:r>
              <a:rPr lang="en-US" sz="2899" dirty="0">
                <a:solidFill>
                  <a:srgbClr val="FFFFFF"/>
                </a:solidFill>
                <a:latin typeface="Poppins"/>
                <a:ea typeface="Poppins"/>
                <a:cs typeface="Poppins"/>
                <a:sym typeface="Poppins"/>
              </a:rPr>
              <a:t>Handling Missing Values: A primary challenge was addressing data gaps within official documentation. For example, in years where reports did not explicitly state average marks, the information was sourced and verified through external web research and reliable educational archives.</a:t>
            </a:r>
          </a:p>
          <a:p>
            <a:pPr marL="626107" lvl="1" indent="-313054" algn="l">
              <a:lnSpc>
                <a:spcPts val="4059"/>
              </a:lnSpc>
              <a:buFont typeface="Arial"/>
              <a:buChar char="•"/>
            </a:pPr>
            <a:r>
              <a:rPr lang="en-US" sz="2899" dirty="0">
                <a:solidFill>
                  <a:srgbClr val="FFFFFF"/>
                </a:solidFill>
                <a:latin typeface="Poppins"/>
                <a:ea typeface="Poppins"/>
                <a:cs typeface="Poppins"/>
                <a:sym typeface="Poppins"/>
              </a:rPr>
              <a:t>Multiple csv’s were made to store data for different cohort, which served as the workbook for that cohort of Analysis.</a:t>
            </a:r>
          </a:p>
          <a:p>
            <a:pPr marL="626107" lvl="1" indent="-313054" algn="l">
              <a:lnSpc>
                <a:spcPts val="4059"/>
              </a:lnSpc>
              <a:buAutoNum type="arabicPeriod"/>
            </a:pPr>
            <a:r>
              <a:rPr lang="en-US" sz="2899" dirty="0">
                <a:solidFill>
                  <a:srgbClr val="FFFFFF"/>
                </a:solidFill>
                <a:latin typeface="Poppins"/>
                <a:ea typeface="Poppins"/>
                <a:cs typeface="Poppins"/>
                <a:sym typeface="Poppins"/>
              </a:rPr>
              <a:t>workbook 1 -  Examlevel.csv</a:t>
            </a:r>
          </a:p>
          <a:p>
            <a:pPr marL="626107" lvl="1" indent="-313054" algn="l">
              <a:lnSpc>
                <a:spcPts val="4059"/>
              </a:lnSpc>
              <a:buAutoNum type="arabicPeriod"/>
            </a:pPr>
            <a:r>
              <a:rPr lang="en-US" sz="2899" dirty="0">
                <a:solidFill>
                  <a:srgbClr val="FFFFFF"/>
                </a:solidFill>
                <a:latin typeface="Poppins"/>
                <a:ea typeface="Poppins"/>
                <a:cs typeface="Poppins"/>
                <a:sym typeface="Poppins"/>
              </a:rPr>
              <a:t>workbook 2 - Female male.csv</a:t>
            </a:r>
          </a:p>
          <a:p>
            <a:pPr marL="626107" lvl="1" indent="-313054" algn="l">
              <a:lnSpc>
                <a:spcPts val="4059"/>
              </a:lnSpc>
              <a:buAutoNum type="arabicPeriod"/>
            </a:pPr>
            <a:r>
              <a:rPr lang="en-US" sz="2899" dirty="0">
                <a:solidFill>
                  <a:srgbClr val="FFFFFF"/>
                </a:solidFill>
                <a:latin typeface="Poppins"/>
                <a:ea typeface="Poppins"/>
                <a:cs typeface="Poppins"/>
                <a:sym typeface="Poppins"/>
              </a:rPr>
              <a:t>workbook 3 - Parental occupation.csv</a:t>
            </a:r>
          </a:p>
          <a:p>
            <a:pPr marL="626107" lvl="1" indent="-313054" algn="l">
              <a:lnSpc>
                <a:spcPts val="4059"/>
              </a:lnSpc>
              <a:buAutoNum type="arabicPeriod"/>
            </a:pPr>
            <a:r>
              <a:rPr lang="en-US" sz="2899" dirty="0">
                <a:solidFill>
                  <a:srgbClr val="FFFFFF"/>
                </a:solidFill>
                <a:latin typeface="Poppins"/>
                <a:ea typeface="Poppins"/>
                <a:cs typeface="Poppins"/>
                <a:sym typeface="Poppins"/>
              </a:rPr>
              <a:t>workbook 4 - category.csv</a:t>
            </a:r>
          </a:p>
        </p:txBody>
      </p:sp>
      <p:grpSp>
        <p:nvGrpSpPr>
          <p:cNvPr id="5" name="Group 5"/>
          <p:cNvGrpSpPr/>
          <p:nvPr/>
        </p:nvGrpSpPr>
        <p:grpSpPr>
          <a:xfrm>
            <a:off x="-560343" y="9889125"/>
            <a:ext cx="19408687" cy="996493"/>
            <a:chOff x="0" y="0"/>
            <a:chExt cx="5111753" cy="262451"/>
          </a:xfrm>
        </p:grpSpPr>
        <p:sp>
          <p:nvSpPr>
            <p:cNvPr id="6" name="Freeform 6"/>
            <p:cNvSpPr/>
            <p:nvPr/>
          </p:nvSpPr>
          <p:spPr>
            <a:xfrm>
              <a:off x="0" y="0"/>
              <a:ext cx="5111753" cy="262451"/>
            </a:xfrm>
            <a:custGeom>
              <a:avLst/>
              <a:gdLst/>
              <a:ahLst/>
              <a:cxnLst/>
              <a:rect l="l" t="t" r="r" b="b"/>
              <a:pathLst>
                <a:path w="5111753" h="262451">
                  <a:moveTo>
                    <a:pt x="0" y="0"/>
                  </a:moveTo>
                  <a:lnTo>
                    <a:pt x="5111753" y="0"/>
                  </a:lnTo>
                  <a:lnTo>
                    <a:pt x="5111753" y="262451"/>
                  </a:lnTo>
                  <a:lnTo>
                    <a:pt x="0" y="262451"/>
                  </a:lnTo>
                  <a:close/>
                </a:path>
              </a:pathLst>
            </a:custGeom>
            <a:solidFill>
              <a:srgbClr val="5CA3B2"/>
            </a:solidFill>
          </p:spPr>
          <p:txBody>
            <a:bodyPr/>
            <a:lstStyle/>
            <a:p>
              <a:endParaRPr lang="en-IN"/>
            </a:p>
          </p:txBody>
        </p:sp>
        <p:sp>
          <p:nvSpPr>
            <p:cNvPr id="7" name="TextBox 7"/>
            <p:cNvSpPr txBox="1"/>
            <p:nvPr/>
          </p:nvSpPr>
          <p:spPr>
            <a:xfrm>
              <a:off x="0" y="-57150"/>
              <a:ext cx="5111753" cy="319601"/>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4042428" y="1028700"/>
            <a:ext cx="642386" cy="729984"/>
          </a:xfrm>
          <a:custGeom>
            <a:avLst/>
            <a:gdLst/>
            <a:ahLst/>
            <a:cxnLst/>
            <a:rect l="l" t="t" r="r" b="b"/>
            <a:pathLst>
              <a:path w="642386" h="729984">
                <a:moveTo>
                  <a:pt x="0" y="0"/>
                </a:moveTo>
                <a:lnTo>
                  <a:pt x="642387" y="0"/>
                </a:lnTo>
                <a:lnTo>
                  <a:pt x="642387" y="729984"/>
                </a:lnTo>
                <a:lnTo>
                  <a:pt x="0" y="72998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TextBox 9"/>
          <p:cNvSpPr txBox="1"/>
          <p:nvPr/>
        </p:nvSpPr>
        <p:spPr>
          <a:xfrm>
            <a:off x="14004328" y="1130167"/>
            <a:ext cx="3037713" cy="483870"/>
          </a:xfrm>
          <a:prstGeom prst="rect">
            <a:avLst/>
          </a:prstGeom>
        </p:spPr>
        <p:txBody>
          <a:bodyPr lIns="0" tIns="0" rIns="0" bIns="0" rtlCol="0" anchor="t">
            <a:spAutoFit/>
          </a:bodyPr>
          <a:lstStyle/>
          <a:p>
            <a:pPr algn="r">
              <a:lnSpc>
                <a:spcPts val="3779"/>
              </a:lnSpc>
              <a:spcBef>
                <a:spcPct val="0"/>
              </a:spcBef>
            </a:pPr>
            <a:r>
              <a:rPr lang="en-US" sz="2699">
                <a:solidFill>
                  <a:srgbClr val="FFFFFF"/>
                </a:solidFill>
                <a:latin typeface="Poppins"/>
                <a:ea typeface="Poppins"/>
                <a:cs typeface="Poppins"/>
                <a:sym typeface="Poppins"/>
              </a:rPr>
              <a:t>Major Project</a:t>
            </a:r>
          </a:p>
        </p:txBody>
      </p:sp>
      <p:sp>
        <p:nvSpPr>
          <p:cNvPr id="10" name="TextBox 10"/>
          <p:cNvSpPr txBox="1"/>
          <p:nvPr/>
        </p:nvSpPr>
        <p:spPr>
          <a:xfrm>
            <a:off x="12347314" y="9133525"/>
            <a:ext cx="4911986" cy="441325"/>
          </a:xfrm>
          <a:prstGeom prst="rect">
            <a:avLst/>
          </a:prstGeom>
        </p:spPr>
        <p:txBody>
          <a:bodyPr lIns="0" tIns="0" rIns="0" bIns="0" rtlCol="0" anchor="t">
            <a:spAutoFit/>
          </a:bodyPr>
          <a:lstStyle/>
          <a:p>
            <a:pPr marL="0" lvl="0" indent="0" algn="r">
              <a:lnSpc>
                <a:spcPts val="3499"/>
              </a:lnSpc>
              <a:spcBef>
                <a:spcPct val="0"/>
              </a:spcBef>
            </a:pPr>
            <a:r>
              <a:rPr lang="en-US" sz="2499" dirty="0">
                <a:solidFill>
                  <a:srgbClr val="FFFFFF"/>
                </a:solidFill>
                <a:latin typeface="Poppins"/>
                <a:ea typeface="Poppins"/>
                <a:cs typeface="Poppins"/>
                <a:sym typeface="Poppins"/>
                <a:hlinkClick r:id="rId4"/>
              </a:rPr>
              <a:t>https://shorturl.at/s01LK</a:t>
            </a:r>
            <a:endParaRPr lang="en-US" sz="2499" dirty="0">
              <a:solidFill>
                <a:srgbClr val="FFFFFF"/>
              </a:solidFill>
              <a:latin typeface="Poppins"/>
              <a:ea typeface="Poppins"/>
              <a:cs typeface="Poppins"/>
              <a:sym typeface="Poppins"/>
            </a:endParaRPr>
          </a:p>
        </p:txBody>
      </p:sp>
      <p:sp>
        <p:nvSpPr>
          <p:cNvPr id="11" name="Freeform 11"/>
          <p:cNvSpPr/>
          <p:nvPr/>
        </p:nvSpPr>
        <p:spPr>
          <a:xfrm>
            <a:off x="1028700" y="8255873"/>
            <a:ext cx="860834" cy="1002427"/>
          </a:xfrm>
          <a:custGeom>
            <a:avLst/>
            <a:gdLst/>
            <a:ahLst/>
            <a:cxnLst/>
            <a:rect l="l" t="t" r="r" b="b"/>
            <a:pathLst>
              <a:path w="860834" h="1002427">
                <a:moveTo>
                  <a:pt x="0" y="0"/>
                </a:moveTo>
                <a:lnTo>
                  <a:pt x="860834" y="0"/>
                </a:lnTo>
                <a:lnTo>
                  <a:pt x="860834" y="1002427"/>
                </a:lnTo>
                <a:lnTo>
                  <a:pt x="0" y="1002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TextBox 3"/>
          <p:cNvSpPr txBox="1"/>
          <p:nvPr/>
        </p:nvSpPr>
        <p:spPr>
          <a:xfrm>
            <a:off x="1028700" y="1066800"/>
            <a:ext cx="7460996" cy="510159"/>
          </a:xfrm>
          <a:prstGeom prst="rect">
            <a:avLst/>
          </a:prstGeom>
        </p:spPr>
        <p:txBody>
          <a:bodyPr lIns="0" tIns="0" rIns="0" bIns="0" rtlCol="0" anchor="t">
            <a:spAutoFit/>
          </a:bodyPr>
          <a:lstStyle/>
          <a:p>
            <a:pPr marL="0" lvl="0" indent="0" algn="l">
              <a:lnSpc>
                <a:spcPts val="3528"/>
              </a:lnSpc>
            </a:pPr>
            <a:r>
              <a:rPr lang="en-US" sz="3600" b="1">
                <a:solidFill>
                  <a:srgbClr val="FFFFFF"/>
                </a:solidFill>
                <a:latin typeface="Poppins Bold"/>
                <a:ea typeface="Poppins Bold"/>
                <a:cs typeface="Poppins Bold"/>
                <a:sym typeface="Poppins Bold"/>
              </a:rPr>
              <a:t>An overview Of Approch</a:t>
            </a:r>
          </a:p>
        </p:txBody>
      </p:sp>
      <p:sp>
        <p:nvSpPr>
          <p:cNvPr id="4" name="TextBox 4"/>
          <p:cNvSpPr txBox="1"/>
          <p:nvPr/>
        </p:nvSpPr>
        <p:spPr>
          <a:xfrm>
            <a:off x="1028700" y="1682484"/>
            <a:ext cx="16230600" cy="6282041"/>
          </a:xfrm>
          <a:prstGeom prst="rect">
            <a:avLst/>
          </a:prstGeom>
        </p:spPr>
        <p:txBody>
          <a:bodyPr lIns="0" tIns="0" rIns="0" bIns="0" rtlCol="0" anchor="t">
            <a:spAutoFit/>
          </a:bodyPr>
          <a:lstStyle/>
          <a:p>
            <a:pPr marL="626107" lvl="1" indent="-313054" algn="l">
              <a:lnSpc>
                <a:spcPts val="4059"/>
              </a:lnSpc>
              <a:buFont typeface="Arial"/>
              <a:buChar char="•"/>
            </a:pPr>
            <a:r>
              <a:rPr lang="en-US" sz="2899" dirty="0">
                <a:solidFill>
                  <a:srgbClr val="FFFFFF"/>
                </a:solidFill>
                <a:latin typeface="Poppins"/>
                <a:ea typeface="Poppins"/>
                <a:cs typeface="Poppins"/>
                <a:sym typeface="Poppins"/>
              </a:rPr>
              <a:t>Since, Data collect on various csv’s, separate analysis notebooks were made corresponding to each csv.</a:t>
            </a:r>
          </a:p>
          <a:p>
            <a:pPr marL="626107" lvl="1" indent="-313054" algn="l">
              <a:lnSpc>
                <a:spcPts val="4059"/>
              </a:lnSpc>
              <a:buFont typeface="Arial"/>
              <a:buChar char="•"/>
            </a:pPr>
            <a:r>
              <a:rPr lang="en-US" sz="2899" dirty="0">
                <a:solidFill>
                  <a:srgbClr val="FFFFFF"/>
                </a:solidFill>
                <a:latin typeface="Poppins"/>
                <a:ea typeface="Poppins"/>
                <a:cs typeface="Poppins"/>
                <a:sym typeface="Poppins"/>
              </a:rPr>
              <a:t>The visuals generated in that notebook were exported as </a:t>
            </a:r>
            <a:r>
              <a:rPr lang="en-US" sz="2899" dirty="0" err="1">
                <a:solidFill>
                  <a:srgbClr val="FFFFFF"/>
                </a:solidFill>
                <a:latin typeface="Poppins"/>
                <a:ea typeface="Poppins"/>
                <a:cs typeface="Poppins"/>
                <a:sym typeface="Poppins"/>
              </a:rPr>
              <a:t>png</a:t>
            </a:r>
            <a:r>
              <a:rPr lang="en-US" sz="2899" dirty="0">
                <a:solidFill>
                  <a:srgbClr val="FFFFFF"/>
                </a:solidFill>
                <a:latin typeface="Poppins"/>
                <a:ea typeface="Poppins"/>
                <a:cs typeface="Poppins"/>
                <a:sym typeface="Poppins"/>
              </a:rPr>
              <a:t>.</a:t>
            </a:r>
          </a:p>
          <a:p>
            <a:pPr marL="626107" lvl="1" indent="-313054" algn="l">
              <a:lnSpc>
                <a:spcPts val="4059"/>
              </a:lnSpc>
              <a:buFont typeface="Arial"/>
              <a:buChar char="•"/>
            </a:pPr>
            <a:r>
              <a:rPr lang="en-US" sz="2899" dirty="0">
                <a:solidFill>
                  <a:srgbClr val="FFFFFF"/>
                </a:solidFill>
                <a:latin typeface="Poppins"/>
                <a:ea typeface="Poppins"/>
                <a:cs typeface="Poppins"/>
                <a:sym typeface="Poppins"/>
              </a:rPr>
              <a:t>And for the interactive plots the </a:t>
            </a:r>
            <a:r>
              <a:rPr lang="en-US" sz="2899" dirty="0" err="1">
                <a:solidFill>
                  <a:srgbClr val="FFFFFF"/>
                </a:solidFill>
                <a:latin typeface="Poppins"/>
                <a:ea typeface="Poppins"/>
                <a:cs typeface="Poppins"/>
                <a:sym typeface="Poppins"/>
              </a:rPr>
              <a:t>plotly</a:t>
            </a:r>
            <a:r>
              <a:rPr lang="en-US" sz="2899" dirty="0">
                <a:solidFill>
                  <a:srgbClr val="FFFFFF"/>
                </a:solidFill>
                <a:latin typeface="Poppins"/>
                <a:ea typeface="Poppins"/>
                <a:cs typeface="Poppins"/>
                <a:sym typeface="Poppins"/>
              </a:rPr>
              <a:t> plotting engine was used and the plot’s html format was exported and saved.</a:t>
            </a:r>
          </a:p>
          <a:p>
            <a:pPr marL="626107" lvl="1" indent="-313054" algn="l">
              <a:lnSpc>
                <a:spcPts val="4059"/>
              </a:lnSpc>
              <a:buFont typeface="Arial"/>
              <a:buChar char="•"/>
            </a:pPr>
            <a:r>
              <a:rPr lang="en-US" sz="2899" dirty="0" err="1">
                <a:solidFill>
                  <a:srgbClr val="FFFFFF"/>
                </a:solidFill>
                <a:latin typeface="Poppins"/>
                <a:ea typeface="Poppins"/>
                <a:cs typeface="Poppins"/>
                <a:sym typeface="Poppins"/>
              </a:rPr>
              <a:t>Streamlit</a:t>
            </a:r>
            <a:r>
              <a:rPr lang="en-US" sz="2899" dirty="0">
                <a:solidFill>
                  <a:srgbClr val="FFFFFF"/>
                </a:solidFill>
                <a:latin typeface="Poppins"/>
                <a:ea typeface="Poppins"/>
                <a:cs typeface="Poppins"/>
                <a:sym typeface="Poppins"/>
              </a:rPr>
              <a:t> was used to host the webpage showing overall analysis at one page that could be accessed by anyone.</a:t>
            </a:r>
          </a:p>
          <a:p>
            <a:pPr marL="626107" lvl="1" indent="-313054" algn="l">
              <a:lnSpc>
                <a:spcPts val="4059"/>
              </a:lnSpc>
              <a:buFont typeface="Arial"/>
              <a:buChar char="•"/>
            </a:pPr>
            <a:r>
              <a:rPr lang="en-US" sz="2899" dirty="0">
                <a:solidFill>
                  <a:srgbClr val="FFFFFF"/>
                </a:solidFill>
                <a:latin typeface="Poppins"/>
                <a:ea typeface="Poppins"/>
                <a:cs typeface="Poppins"/>
                <a:sym typeface="Poppins"/>
              </a:rPr>
              <a:t>The regression model built for predicting rank was exported as .</a:t>
            </a:r>
            <a:r>
              <a:rPr lang="en-US" sz="2899" dirty="0" err="1">
                <a:solidFill>
                  <a:srgbClr val="FFFFFF"/>
                </a:solidFill>
                <a:latin typeface="Poppins"/>
                <a:ea typeface="Poppins"/>
                <a:cs typeface="Poppins"/>
                <a:sym typeface="Poppins"/>
              </a:rPr>
              <a:t>pkl</a:t>
            </a:r>
            <a:r>
              <a:rPr lang="en-US" sz="2899" dirty="0">
                <a:solidFill>
                  <a:srgbClr val="FFFFFF"/>
                </a:solidFill>
                <a:latin typeface="Poppins"/>
                <a:ea typeface="Poppins"/>
                <a:cs typeface="Poppins"/>
                <a:sym typeface="Poppins"/>
              </a:rPr>
              <a:t> file and then exported model was called using </a:t>
            </a:r>
            <a:r>
              <a:rPr lang="en-US" sz="2899" dirty="0" err="1">
                <a:solidFill>
                  <a:srgbClr val="FFFFFF"/>
                </a:solidFill>
                <a:latin typeface="Poppins"/>
                <a:ea typeface="Poppins"/>
                <a:cs typeface="Poppins"/>
                <a:sym typeface="Poppins"/>
              </a:rPr>
              <a:t>joblib</a:t>
            </a:r>
            <a:r>
              <a:rPr lang="en-US" sz="2899" dirty="0">
                <a:solidFill>
                  <a:srgbClr val="FFFFFF"/>
                </a:solidFill>
                <a:latin typeface="Poppins"/>
                <a:ea typeface="Poppins"/>
                <a:cs typeface="Poppins"/>
                <a:sym typeface="Poppins"/>
              </a:rPr>
              <a:t>, which prevents training the model every time as the site loads.</a:t>
            </a:r>
          </a:p>
          <a:p>
            <a:pPr marL="626107" lvl="1" indent="-313054" algn="l">
              <a:lnSpc>
                <a:spcPts val="4059"/>
              </a:lnSpc>
              <a:buFont typeface="Arial"/>
              <a:buChar char="•"/>
            </a:pPr>
            <a:r>
              <a:rPr lang="en-US" sz="2899" dirty="0">
                <a:solidFill>
                  <a:srgbClr val="FFFFFF"/>
                </a:solidFill>
                <a:latin typeface="Poppins"/>
                <a:ea typeface="Poppins"/>
                <a:cs typeface="Poppins"/>
                <a:sym typeface="Poppins"/>
              </a:rPr>
              <a:t>Using the pre-plotted visuals (static &amp; interactive) enhanced the loading speed of website.</a:t>
            </a:r>
          </a:p>
        </p:txBody>
      </p:sp>
      <p:grpSp>
        <p:nvGrpSpPr>
          <p:cNvPr id="5" name="Group 5"/>
          <p:cNvGrpSpPr/>
          <p:nvPr/>
        </p:nvGrpSpPr>
        <p:grpSpPr>
          <a:xfrm>
            <a:off x="-560343" y="9889125"/>
            <a:ext cx="19408687" cy="996493"/>
            <a:chOff x="0" y="0"/>
            <a:chExt cx="5111753" cy="262451"/>
          </a:xfrm>
        </p:grpSpPr>
        <p:sp>
          <p:nvSpPr>
            <p:cNvPr id="6" name="Freeform 6"/>
            <p:cNvSpPr/>
            <p:nvPr/>
          </p:nvSpPr>
          <p:spPr>
            <a:xfrm>
              <a:off x="0" y="0"/>
              <a:ext cx="5111753" cy="262451"/>
            </a:xfrm>
            <a:custGeom>
              <a:avLst/>
              <a:gdLst/>
              <a:ahLst/>
              <a:cxnLst/>
              <a:rect l="l" t="t" r="r" b="b"/>
              <a:pathLst>
                <a:path w="5111753" h="262451">
                  <a:moveTo>
                    <a:pt x="0" y="0"/>
                  </a:moveTo>
                  <a:lnTo>
                    <a:pt x="5111753" y="0"/>
                  </a:lnTo>
                  <a:lnTo>
                    <a:pt x="5111753" y="262451"/>
                  </a:lnTo>
                  <a:lnTo>
                    <a:pt x="0" y="262451"/>
                  </a:lnTo>
                  <a:close/>
                </a:path>
              </a:pathLst>
            </a:custGeom>
            <a:solidFill>
              <a:srgbClr val="5CA3B2"/>
            </a:solidFill>
          </p:spPr>
          <p:txBody>
            <a:bodyPr/>
            <a:lstStyle/>
            <a:p>
              <a:endParaRPr lang="en-IN"/>
            </a:p>
          </p:txBody>
        </p:sp>
        <p:sp>
          <p:nvSpPr>
            <p:cNvPr id="7" name="TextBox 7"/>
            <p:cNvSpPr txBox="1"/>
            <p:nvPr/>
          </p:nvSpPr>
          <p:spPr>
            <a:xfrm>
              <a:off x="0" y="-57150"/>
              <a:ext cx="5111753" cy="319601"/>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4042428" y="1028700"/>
            <a:ext cx="642386" cy="729984"/>
          </a:xfrm>
          <a:custGeom>
            <a:avLst/>
            <a:gdLst/>
            <a:ahLst/>
            <a:cxnLst/>
            <a:rect l="l" t="t" r="r" b="b"/>
            <a:pathLst>
              <a:path w="642386" h="729984">
                <a:moveTo>
                  <a:pt x="0" y="0"/>
                </a:moveTo>
                <a:lnTo>
                  <a:pt x="642387" y="0"/>
                </a:lnTo>
                <a:lnTo>
                  <a:pt x="642387" y="729984"/>
                </a:lnTo>
                <a:lnTo>
                  <a:pt x="0" y="72998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TextBox 9"/>
          <p:cNvSpPr txBox="1"/>
          <p:nvPr/>
        </p:nvSpPr>
        <p:spPr>
          <a:xfrm>
            <a:off x="14004328" y="1130167"/>
            <a:ext cx="3037713" cy="483870"/>
          </a:xfrm>
          <a:prstGeom prst="rect">
            <a:avLst/>
          </a:prstGeom>
        </p:spPr>
        <p:txBody>
          <a:bodyPr lIns="0" tIns="0" rIns="0" bIns="0" rtlCol="0" anchor="t">
            <a:spAutoFit/>
          </a:bodyPr>
          <a:lstStyle/>
          <a:p>
            <a:pPr algn="r">
              <a:lnSpc>
                <a:spcPts val="3779"/>
              </a:lnSpc>
              <a:spcBef>
                <a:spcPct val="0"/>
              </a:spcBef>
            </a:pPr>
            <a:r>
              <a:rPr lang="en-US" sz="2699">
                <a:solidFill>
                  <a:srgbClr val="FFFFFF"/>
                </a:solidFill>
                <a:latin typeface="Poppins"/>
                <a:ea typeface="Poppins"/>
                <a:cs typeface="Poppins"/>
                <a:sym typeface="Poppins"/>
              </a:rPr>
              <a:t>Major Project</a:t>
            </a:r>
          </a:p>
        </p:txBody>
      </p:sp>
      <p:sp>
        <p:nvSpPr>
          <p:cNvPr id="10" name="TextBox 10"/>
          <p:cNvSpPr txBox="1"/>
          <p:nvPr/>
        </p:nvSpPr>
        <p:spPr>
          <a:xfrm>
            <a:off x="12347314" y="9133525"/>
            <a:ext cx="4911986" cy="441325"/>
          </a:xfrm>
          <a:prstGeom prst="rect">
            <a:avLst/>
          </a:prstGeom>
        </p:spPr>
        <p:txBody>
          <a:bodyPr lIns="0" tIns="0" rIns="0" bIns="0" rtlCol="0" anchor="t">
            <a:spAutoFit/>
          </a:bodyPr>
          <a:lstStyle/>
          <a:p>
            <a:pPr marL="0" lvl="0" indent="0" algn="r">
              <a:lnSpc>
                <a:spcPts val="3499"/>
              </a:lnSpc>
              <a:spcBef>
                <a:spcPct val="0"/>
              </a:spcBef>
            </a:pPr>
            <a:r>
              <a:rPr lang="en-US" sz="2499" dirty="0">
                <a:solidFill>
                  <a:srgbClr val="FFFFFF"/>
                </a:solidFill>
                <a:latin typeface="Poppins"/>
                <a:ea typeface="Poppins"/>
                <a:cs typeface="Poppins"/>
                <a:sym typeface="Poppins"/>
                <a:hlinkClick r:id="rId4"/>
              </a:rPr>
              <a:t>https://shorturl.at/s01LK</a:t>
            </a:r>
            <a:endParaRPr lang="en-US" sz="2499" dirty="0">
              <a:solidFill>
                <a:srgbClr val="FFFFFF"/>
              </a:solidFill>
              <a:latin typeface="Poppins"/>
              <a:ea typeface="Poppins"/>
              <a:cs typeface="Poppins"/>
              <a:sym typeface="Poppins"/>
            </a:endParaRPr>
          </a:p>
        </p:txBody>
      </p:sp>
      <p:sp>
        <p:nvSpPr>
          <p:cNvPr id="11" name="Freeform 11"/>
          <p:cNvSpPr/>
          <p:nvPr/>
        </p:nvSpPr>
        <p:spPr>
          <a:xfrm>
            <a:off x="1028700" y="8255873"/>
            <a:ext cx="860834" cy="1002427"/>
          </a:xfrm>
          <a:custGeom>
            <a:avLst/>
            <a:gdLst/>
            <a:ahLst/>
            <a:cxnLst/>
            <a:rect l="l" t="t" r="r" b="b"/>
            <a:pathLst>
              <a:path w="860834" h="1002427">
                <a:moveTo>
                  <a:pt x="0" y="0"/>
                </a:moveTo>
                <a:lnTo>
                  <a:pt x="860834" y="0"/>
                </a:lnTo>
                <a:lnTo>
                  <a:pt x="860834" y="1002427"/>
                </a:lnTo>
                <a:lnTo>
                  <a:pt x="0" y="1002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TextBox 3"/>
          <p:cNvSpPr txBox="1"/>
          <p:nvPr/>
        </p:nvSpPr>
        <p:spPr>
          <a:xfrm>
            <a:off x="1028700" y="1066800"/>
            <a:ext cx="9303103" cy="957834"/>
          </a:xfrm>
          <a:prstGeom prst="rect">
            <a:avLst/>
          </a:prstGeom>
        </p:spPr>
        <p:txBody>
          <a:bodyPr lIns="0" tIns="0" rIns="0" bIns="0" rtlCol="0" anchor="t">
            <a:spAutoFit/>
          </a:bodyPr>
          <a:lstStyle/>
          <a:p>
            <a:pPr algn="l">
              <a:lnSpc>
                <a:spcPts val="3528"/>
              </a:lnSpc>
            </a:pPr>
            <a:r>
              <a:rPr lang="en-US" sz="3600" b="1">
                <a:solidFill>
                  <a:srgbClr val="FFFFFF"/>
                </a:solidFill>
                <a:latin typeface="Poppins Bold"/>
                <a:ea typeface="Poppins Bold"/>
                <a:cs typeface="Poppins Bold"/>
                <a:sym typeface="Poppins Bold"/>
              </a:rPr>
              <a:t>Exploratory Data Analysis (EDA)</a:t>
            </a:r>
          </a:p>
          <a:p>
            <a:pPr marL="0" lvl="0" indent="0" algn="l">
              <a:lnSpc>
                <a:spcPts val="3528"/>
              </a:lnSpc>
            </a:pPr>
            <a:endParaRPr lang="en-US" sz="3600" b="1">
              <a:solidFill>
                <a:srgbClr val="FFFFFF"/>
              </a:solidFill>
              <a:latin typeface="Poppins Bold"/>
              <a:ea typeface="Poppins Bold"/>
              <a:cs typeface="Poppins Bold"/>
              <a:sym typeface="Poppins Bold"/>
            </a:endParaRPr>
          </a:p>
        </p:txBody>
      </p:sp>
      <p:sp>
        <p:nvSpPr>
          <p:cNvPr id="4" name="TextBox 4"/>
          <p:cNvSpPr txBox="1"/>
          <p:nvPr/>
        </p:nvSpPr>
        <p:spPr>
          <a:xfrm>
            <a:off x="1028700" y="1682484"/>
            <a:ext cx="16230600" cy="5146040"/>
          </a:xfrm>
          <a:prstGeom prst="rect">
            <a:avLst/>
          </a:prstGeom>
        </p:spPr>
        <p:txBody>
          <a:bodyPr lIns="0" tIns="0" rIns="0" bIns="0" rtlCol="0" anchor="t">
            <a:spAutoFit/>
          </a:bodyPr>
          <a:lstStyle/>
          <a:p>
            <a:pPr algn="l">
              <a:lnSpc>
                <a:spcPts val="4059"/>
              </a:lnSpc>
            </a:pPr>
            <a:r>
              <a:rPr lang="en-US" sz="2899" dirty="0">
                <a:solidFill>
                  <a:srgbClr val="FFFFFF"/>
                </a:solidFill>
                <a:latin typeface="Poppins"/>
                <a:ea typeface="Poppins"/>
                <a:cs typeface="Poppins"/>
                <a:sym typeface="Poppins"/>
              </a:rPr>
              <a:t>Since the data was collected under distinct cohorts of analysis, the EDA phase was structured around individual datasets to uncover specific trends. Each CSV was treated as a unique analytical pillar:</a:t>
            </a:r>
          </a:p>
          <a:p>
            <a:pPr marL="626107" lvl="1" indent="-313054" algn="l">
              <a:lnSpc>
                <a:spcPts val="4059"/>
              </a:lnSpc>
              <a:buFont typeface="Arial"/>
              <a:buChar char="•"/>
            </a:pPr>
            <a:r>
              <a:rPr lang="en-US" sz="2899" dirty="0">
                <a:solidFill>
                  <a:srgbClr val="FFFFFF"/>
                </a:solidFill>
                <a:latin typeface="Poppins"/>
                <a:ea typeface="Poppins"/>
                <a:cs typeface="Poppins"/>
                <a:sym typeface="Poppins"/>
              </a:rPr>
              <a:t>Examination Metrics: Analysis of the overall exam level and year-on-year difficulty shifts.</a:t>
            </a:r>
          </a:p>
          <a:p>
            <a:pPr marL="626107" lvl="1" indent="-313054" algn="l">
              <a:lnSpc>
                <a:spcPts val="4059"/>
              </a:lnSpc>
              <a:buFont typeface="Arial"/>
              <a:buChar char="•"/>
            </a:pPr>
            <a:r>
              <a:rPr lang="en-US" sz="2899" dirty="0">
                <a:solidFill>
                  <a:srgbClr val="FFFFFF"/>
                </a:solidFill>
                <a:latin typeface="Poppins"/>
                <a:ea typeface="Poppins"/>
                <a:cs typeface="Poppins"/>
                <a:sym typeface="Poppins"/>
              </a:rPr>
              <a:t>Demographic Distribution: Tracking candidate participation and performance across different categories over the years.</a:t>
            </a:r>
          </a:p>
          <a:p>
            <a:pPr marL="626107" lvl="1" indent="-313054" algn="l">
              <a:lnSpc>
                <a:spcPts val="4059"/>
              </a:lnSpc>
              <a:buFont typeface="Arial"/>
              <a:buChar char="•"/>
            </a:pPr>
            <a:r>
              <a:rPr lang="en-US" sz="2899" dirty="0">
                <a:solidFill>
                  <a:srgbClr val="FFFFFF"/>
                </a:solidFill>
                <a:latin typeface="Poppins"/>
                <a:ea typeface="Poppins"/>
                <a:cs typeface="Poppins"/>
                <a:sym typeface="Poppins"/>
              </a:rPr>
              <a:t>Gender Dynamics: A longitudinal study of female vs. male participation rates.</a:t>
            </a:r>
          </a:p>
          <a:p>
            <a:pPr marL="626107" lvl="1" indent="-313054" algn="l">
              <a:lnSpc>
                <a:spcPts val="4059"/>
              </a:lnSpc>
              <a:buFont typeface="Arial"/>
              <a:buChar char="•"/>
            </a:pPr>
            <a:r>
              <a:rPr lang="en-US" sz="2899" dirty="0">
                <a:solidFill>
                  <a:srgbClr val="FFFFFF"/>
                </a:solidFill>
                <a:latin typeface="Poppins"/>
                <a:ea typeface="Poppins"/>
                <a:cs typeface="Poppins"/>
                <a:sym typeface="Poppins"/>
              </a:rPr>
              <a:t>Socio-Economic Factors: Analyzing the correlation between parental occupation and the success rates of qualifying students.</a:t>
            </a:r>
          </a:p>
        </p:txBody>
      </p:sp>
      <p:grpSp>
        <p:nvGrpSpPr>
          <p:cNvPr id="5" name="Group 5"/>
          <p:cNvGrpSpPr/>
          <p:nvPr/>
        </p:nvGrpSpPr>
        <p:grpSpPr>
          <a:xfrm>
            <a:off x="-560343" y="9889125"/>
            <a:ext cx="19408687" cy="996493"/>
            <a:chOff x="0" y="0"/>
            <a:chExt cx="5111753" cy="262451"/>
          </a:xfrm>
        </p:grpSpPr>
        <p:sp>
          <p:nvSpPr>
            <p:cNvPr id="6" name="Freeform 6"/>
            <p:cNvSpPr/>
            <p:nvPr/>
          </p:nvSpPr>
          <p:spPr>
            <a:xfrm>
              <a:off x="0" y="0"/>
              <a:ext cx="5111753" cy="262451"/>
            </a:xfrm>
            <a:custGeom>
              <a:avLst/>
              <a:gdLst/>
              <a:ahLst/>
              <a:cxnLst/>
              <a:rect l="l" t="t" r="r" b="b"/>
              <a:pathLst>
                <a:path w="5111753" h="262451">
                  <a:moveTo>
                    <a:pt x="0" y="0"/>
                  </a:moveTo>
                  <a:lnTo>
                    <a:pt x="5111753" y="0"/>
                  </a:lnTo>
                  <a:lnTo>
                    <a:pt x="5111753" y="262451"/>
                  </a:lnTo>
                  <a:lnTo>
                    <a:pt x="0" y="262451"/>
                  </a:lnTo>
                  <a:close/>
                </a:path>
              </a:pathLst>
            </a:custGeom>
            <a:solidFill>
              <a:srgbClr val="5CA3B2"/>
            </a:solidFill>
          </p:spPr>
          <p:txBody>
            <a:bodyPr/>
            <a:lstStyle/>
            <a:p>
              <a:endParaRPr lang="en-IN"/>
            </a:p>
          </p:txBody>
        </p:sp>
        <p:sp>
          <p:nvSpPr>
            <p:cNvPr id="7" name="TextBox 7"/>
            <p:cNvSpPr txBox="1"/>
            <p:nvPr/>
          </p:nvSpPr>
          <p:spPr>
            <a:xfrm>
              <a:off x="0" y="-57150"/>
              <a:ext cx="5111753" cy="319601"/>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4042428" y="1028700"/>
            <a:ext cx="642386" cy="729984"/>
          </a:xfrm>
          <a:custGeom>
            <a:avLst/>
            <a:gdLst/>
            <a:ahLst/>
            <a:cxnLst/>
            <a:rect l="l" t="t" r="r" b="b"/>
            <a:pathLst>
              <a:path w="642386" h="729984">
                <a:moveTo>
                  <a:pt x="0" y="0"/>
                </a:moveTo>
                <a:lnTo>
                  <a:pt x="642387" y="0"/>
                </a:lnTo>
                <a:lnTo>
                  <a:pt x="642387" y="729984"/>
                </a:lnTo>
                <a:lnTo>
                  <a:pt x="0" y="72998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TextBox 9"/>
          <p:cNvSpPr txBox="1"/>
          <p:nvPr/>
        </p:nvSpPr>
        <p:spPr>
          <a:xfrm>
            <a:off x="14004328" y="1130167"/>
            <a:ext cx="3037713" cy="483870"/>
          </a:xfrm>
          <a:prstGeom prst="rect">
            <a:avLst/>
          </a:prstGeom>
        </p:spPr>
        <p:txBody>
          <a:bodyPr lIns="0" tIns="0" rIns="0" bIns="0" rtlCol="0" anchor="t">
            <a:spAutoFit/>
          </a:bodyPr>
          <a:lstStyle/>
          <a:p>
            <a:pPr algn="r">
              <a:lnSpc>
                <a:spcPts val="3779"/>
              </a:lnSpc>
              <a:spcBef>
                <a:spcPct val="0"/>
              </a:spcBef>
            </a:pPr>
            <a:r>
              <a:rPr lang="en-US" sz="2699">
                <a:solidFill>
                  <a:srgbClr val="FFFFFF"/>
                </a:solidFill>
                <a:latin typeface="Poppins"/>
                <a:ea typeface="Poppins"/>
                <a:cs typeface="Poppins"/>
                <a:sym typeface="Poppins"/>
              </a:rPr>
              <a:t>Major Project</a:t>
            </a:r>
          </a:p>
        </p:txBody>
      </p:sp>
      <p:sp>
        <p:nvSpPr>
          <p:cNvPr id="10" name="TextBox 10"/>
          <p:cNvSpPr txBox="1"/>
          <p:nvPr/>
        </p:nvSpPr>
        <p:spPr>
          <a:xfrm>
            <a:off x="5485839" y="7814548"/>
            <a:ext cx="7316322" cy="441325"/>
          </a:xfrm>
          <a:prstGeom prst="rect">
            <a:avLst/>
          </a:prstGeom>
        </p:spPr>
        <p:txBody>
          <a:bodyPr lIns="0" tIns="0" rIns="0" bIns="0" rtlCol="0" anchor="t">
            <a:spAutoFit/>
          </a:bodyPr>
          <a:lstStyle/>
          <a:p>
            <a:pPr marL="0" lvl="0" indent="0" algn="l">
              <a:lnSpc>
                <a:spcPts val="3499"/>
              </a:lnSpc>
              <a:spcBef>
                <a:spcPct val="0"/>
              </a:spcBef>
            </a:pPr>
            <a:r>
              <a:rPr lang="en-US" sz="2499" dirty="0">
                <a:solidFill>
                  <a:srgbClr val="FFFFFF"/>
                </a:solidFill>
                <a:latin typeface="Poppins"/>
                <a:ea typeface="Poppins"/>
                <a:cs typeface="Poppins"/>
                <a:sym typeface="Poppins"/>
              </a:rPr>
              <a:t>Webpage link : </a:t>
            </a:r>
            <a:r>
              <a:rPr lang="en-US" sz="2499" dirty="0">
                <a:solidFill>
                  <a:srgbClr val="FFFFFF"/>
                </a:solidFill>
                <a:latin typeface="Poppins"/>
                <a:ea typeface="Poppins"/>
                <a:cs typeface="Poppins"/>
                <a:sym typeface="Poppins"/>
                <a:hlinkClick r:id="rId4"/>
              </a:rPr>
              <a:t>https://shorturl.at/s01LK</a:t>
            </a:r>
            <a:endParaRPr lang="en-US" sz="2499" dirty="0">
              <a:solidFill>
                <a:srgbClr val="FFFFFF"/>
              </a:solidFill>
              <a:latin typeface="Poppins"/>
              <a:ea typeface="Poppins"/>
              <a:cs typeface="Poppins"/>
              <a:sym typeface="Poppins"/>
            </a:endParaRPr>
          </a:p>
        </p:txBody>
      </p:sp>
      <p:sp>
        <p:nvSpPr>
          <p:cNvPr id="11" name="Freeform 11"/>
          <p:cNvSpPr/>
          <p:nvPr/>
        </p:nvSpPr>
        <p:spPr>
          <a:xfrm>
            <a:off x="1028700" y="8255873"/>
            <a:ext cx="860834" cy="1002427"/>
          </a:xfrm>
          <a:custGeom>
            <a:avLst/>
            <a:gdLst/>
            <a:ahLst/>
            <a:cxnLst/>
            <a:rect l="l" t="t" r="r" b="b"/>
            <a:pathLst>
              <a:path w="860834" h="1002427">
                <a:moveTo>
                  <a:pt x="0" y="0"/>
                </a:moveTo>
                <a:lnTo>
                  <a:pt x="860834" y="0"/>
                </a:lnTo>
                <a:lnTo>
                  <a:pt x="860834" y="1002427"/>
                </a:lnTo>
                <a:lnTo>
                  <a:pt x="0" y="1002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TextBox 3"/>
          <p:cNvSpPr txBox="1"/>
          <p:nvPr/>
        </p:nvSpPr>
        <p:spPr>
          <a:xfrm>
            <a:off x="1028700" y="1066800"/>
            <a:ext cx="9303103" cy="957834"/>
          </a:xfrm>
          <a:prstGeom prst="rect">
            <a:avLst/>
          </a:prstGeom>
        </p:spPr>
        <p:txBody>
          <a:bodyPr lIns="0" tIns="0" rIns="0" bIns="0" rtlCol="0" anchor="t">
            <a:spAutoFit/>
          </a:bodyPr>
          <a:lstStyle/>
          <a:p>
            <a:pPr algn="l">
              <a:lnSpc>
                <a:spcPts val="3528"/>
              </a:lnSpc>
            </a:pPr>
            <a:r>
              <a:rPr lang="en-US" sz="3600" b="1">
                <a:solidFill>
                  <a:srgbClr val="FFFFFF"/>
                </a:solidFill>
                <a:latin typeface="Poppins Bold"/>
                <a:ea typeface="Poppins Bold"/>
                <a:cs typeface="Poppins Bold"/>
                <a:sym typeface="Poppins Bold"/>
              </a:rPr>
              <a:t>Model Building</a:t>
            </a:r>
          </a:p>
          <a:p>
            <a:pPr marL="0" lvl="0" indent="0" algn="l">
              <a:lnSpc>
                <a:spcPts val="3528"/>
              </a:lnSpc>
            </a:pPr>
            <a:endParaRPr lang="en-US" sz="3600" b="1">
              <a:solidFill>
                <a:srgbClr val="FFFFFF"/>
              </a:solidFill>
              <a:latin typeface="Poppins Bold"/>
              <a:ea typeface="Poppins Bold"/>
              <a:cs typeface="Poppins Bold"/>
              <a:sym typeface="Poppins Bold"/>
            </a:endParaRPr>
          </a:p>
        </p:txBody>
      </p:sp>
      <p:sp>
        <p:nvSpPr>
          <p:cNvPr id="4" name="TextBox 4"/>
          <p:cNvSpPr txBox="1"/>
          <p:nvPr/>
        </p:nvSpPr>
        <p:spPr>
          <a:xfrm>
            <a:off x="1028700" y="1682484"/>
            <a:ext cx="16230600" cy="7717790"/>
          </a:xfrm>
          <a:prstGeom prst="rect">
            <a:avLst/>
          </a:prstGeom>
        </p:spPr>
        <p:txBody>
          <a:bodyPr lIns="0" tIns="0" rIns="0" bIns="0" rtlCol="0" anchor="t">
            <a:spAutoFit/>
          </a:bodyPr>
          <a:lstStyle/>
          <a:p>
            <a:pPr algn="l">
              <a:lnSpc>
                <a:spcPts val="4059"/>
              </a:lnSpc>
            </a:pPr>
            <a:r>
              <a:rPr lang="en-US" sz="2899" dirty="0">
                <a:solidFill>
                  <a:srgbClr val="FFFFFF"/>
                </a:solidFill>
                <a:latin typeface="Poppins"/>
                <a:ea typeface="Poppins"/>
                <a:cs typeface="Poppins"/>
                <a:sym typeface="Poppins"/>
              </a:rPr>
              <a:t>The predictive core of this project utilizes the rank_predictor.csv dataset, which contains over 3,000 data points. A regression model was developed to forecast a candidate's rank based on three key parameters: marks obtained, maximum marks, and the estimated number of candidates appearing in the exam.</a:t>
            </a:r>
          </a:p>
          <a:p>
            <a:pPr marL="626107" lvl="1" indent="-313054" algn="l">
              <a:lnSpc>
                <a:spcPts val="4059"/>
              </a:lnSpc>
              <a:buFont typeface="Arial"/>
              <a:buChar char="•"/>
            </a:pPr>
            <a:r>
              <a:rPr lang="en-US" sz="2899" dirty="0">
                <a:solidFill>
                  <a:srgbClr val="FFFFFF"/>
                </a:solidFill>
                <a:latin typeface="Poppins"/>
                <a:ea typeface="Poppins"/>
                <a:cs typeface="Poppins"/>
                <a:sym typeface="Poppins"/>
              </a:rPr>
              <a:t>Feature Engineering: To capture the true difficulty and scaling of the exam across different years, marks were converted into percentages. This normalization was critical in ensuring the model captured the underlying patterns of rank distribution rather than being biased by varying total marks.</a:t>
            </a:r>
          </a:p>
          <a:p>
            <a:pPr marL="626107" lvl="1" indent="-313054" algn="l">
              <a:lnSpc>
                <a:spcPts val="4059"/>
              </a:lnSpc>
              <a:buFont typeface="Arial"/>
              <a:buChar char="•"/>
            </a:pPr>
            <a:r>
              <a:rPr lang="en-US" sz="2899" dirty="0">
                <a:solidFill>
                  <a:srgbClr val="FFFFFF"/>
                </a:solidFill>
                <a:latin typeface="Poppins"/>
                <a:ea typeface="Poppins"/>
                <a:cs typeface="Poppins"/>
                <a:sym typeface="Poppins"/>
              </a:rPr>
              <a:t>Algorithm &amp; Performance: The model utilizes a Regression technique, which achieved an R² score of 0.5+. This level of accuracy makes it a valuable tool for anyone seeking to estimate potential ranks based on historical examination trends.</a:t>
            </a:r>
          </a:p>
          <a:p>
            <a:pPr marL="626107" lvl="1" indent="-313054" algn="l">
              <a:lnSpc>
                <a:spcPts val="4059"/>
              </a:lnSpc>
              <a:buFont typeface="Arial"/>
              <a:buChar char="•"/>
            </a:pPr>
            <a:r>
              <a:rPr lang="en-US" sz="2899" dirty="0">
                <a:solidFill>
                  <a:srgbClr val="FFFFFF"/>
                </a:solidFill>
                <a:latin typeface="Poppins"/>
                <a:ea typeface="Poppins"/>
                <a:cs typeface="Poppins"/>
                <a:sym typeface="Poppins"/>
              </a:rPr>
              <a:t>Deployment: Once training was complete, the model was serialized as a .</a:t>
            </a:r>
            <a:r>
              <a:rPr lang="en-US" sz="2899" dirty="0" err="1">
                <a:solidFill>
                  <a:srgbClr val="FFFFFF"/>
                </a:solidFill>
                <a:latin typeface="Poppins"/>
                <a:ea typeface="Poppins"/>
                <a:cs typeface="Poppins"/>
                <a:sym typeface="Poppins"/>
              </a:rPr>
              <a:t>pkl</a:t>
            </a:r>
            <a:r>
              <a:rPr lang="en-US" sz="2899" dirty="0">
                <a:solidFill>
                  <a:srgbClr val="FFFFFF"/>
                </a:solidFill>
                <a:latin typeface="Poppins"/>
                <a:ea typeface="Poppins"/>
                <a:cs typeface="Poppins"/>
                <a:sym typeface="Poppins"/>
              </a:rPr>
              <a:t> file. This file is loaded into the primary Dashboard.py file using the </a:t>
            </a:r>
            <a:r>
              <a:rPr lang="en-US" sz="2899" dirty="0" err="1">
                <a:solidFill>
                  <a:srgbClr val="FFFFFF"/>
                </a:solidFill>
                <a:latin typeface="Poppins"/>
                <a:ea typeface="Poppins"/>
                <a:cs typeface="Poppins"/>
                <a:sym typeface="Poppins"/>
              </a:rPr>
              <a:t>joblib</a:t>
            </a:r>
            <a:r>
              <a:rPr lang="en-US" sz="2899" dirty="0">
                <a:solidFill>
                  <a:srgbClr val="FFFFFF"/>
                </a:solidFill>
                <a:latin typeface="Poppins"/>
                <a:ea typeface="Poppins"/>
                <a:cs typeface="Poppins"/>
                <a:sym typeface="Poppins"/>
              </a:rPr>
              <a:t> package, enabling real-time rank predictions within the live web application.</a:t>
            </a:r>
          </a:p>
          <a:p>
            <a:pPr algn="l">
              <a:lnSpc>
                <a:spcPts val="4059"/>
              </a:lnSpc>
            </a:pPr>
            <a:endParaRPr lang="en-US" sz="2899" dirty="0">
              <a:solidFill>
                <a:srgbClr val="FFFFFF"/>
              </a:solidFill>
              <a:latin typeface="Poppins"/>
              <a:ea typeface="Poppins"/>
              <a:cs typeface="Poppins"/>
              <a:sym typeface="Poppins"/>
            </a:endParaRPr>
          </a:p>
        </p:txBody>
      </p:sp>
      <p:grpSp>
        <p:nvGrpSpPr>
          <p:cNvPr id="5" name="Group 5"/>
          <p:cNvGrpSpPr/>
          <p:nvPr/>
        </p:nvGrpSpPr>
        <p:grpSpPr>
          <a:xfrm>
            <a:off x="-560343" y="9889125"/>
            <a:ext cx="19408687" cy="996493"/>
            <a:chOff x="0" y="0"/>
            <a:chExt cx="5111753" cy="262451"/>
          </a:xfrm>
        </p:grpSpPr>
        <p:sp>
          <p:nvSpPr>
            <p:cNvPr id="6" name="Freeform 6"/>
            <p:cNvSpPr/>
            <p:nvPr/>
          </p:nvSpPr>
          <p:spPr>
            <a:xfrm>
              <a:off x="0" y="0"/>
              <a:ext cx="5111753" cy="262451"/>
            </a:xfrm>
            <a:custGeom>
              <a:avLst/>
              <a:gdLst/>
              <a:ahLst/>
              <a:cxnLst/>
              <a:rect l="l" t="t" r="r" b="b"/>
              <a:pathLst>
                <a:path w="5111753" h="262451">
                  <a:moveTo>
                    <a:pt x="0" y="0"/>
                  </a:moveTo>
                  <a:lnTo>
                    <a:pt x="5111753" y="0"/>
                  </a:lnTo>
                  <a:lnTo>
                    <a:pt x="5111753" y="262451"/>
                  </a:lnTo>
                  <a:lnTo>
                    <a:pt x="0" y="262451"/>
                  </a:lnTo>
                  <a:close/>
                </a:path>
              </a:pathLst>
            </a:custGeom>
            <a:solidFill>
              <a:srgbClr val="5CA3B2"/>
            </a:solidFill>
          </p:spPr>
          <p:txBody>
            <a:bodyPr/>
            <a:lstStyle/>
            <a:p>
              <a:endParaRPr lang="en-IN"/>
            </a:p>
          </p:txBody>
        </p:sp>
        <p:sp>
          <p:nvSpPr>
            <p:cNvPr id="7" name="TextBox 7"/>
            <p:cNvSpPr txBox="1"/>
            <p:nvPr/>
          </p:nvSpPr>
          <p:spPr>
            <a:xfrm>
              <a:off x="0" y="-57150"/>
              <a:ext cx="5111753" cy="319601"/>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4042428" y="1028700"/>
            <a:ext cx="642386" cy="729984"/>
          </a:xfrm>
          <a:custGeom>
            <a:avLst/>
            <a:gdLst/>
            <a:ahLst/>
            <a:cxnLst/>
            <a:rect l="l" t="t" r="r" b="b"/>
            <a:pathLst>
              <a:path w="642386" h="729984">
                <a:moveTo>
                  <a:pt x="0" y="0"/>
                </a:moveTo>
                <a:lnTo>
                  <a:pt x="642387" y="0"/>
                </a:lnTo>
                <a:lnTo>
                  <a:pt x="642387" y="729984"/>
                </a:lnTo>
                <a:lnTo>
                  <a:pt x="0" y="72998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TextBox 9"/>
          <p:cNvSpPr txBox="1"/>
          <p:nvPr/>
        </p:nvSpPr>
        <p:spPr>
          <a:xfrm>
            <a:off x="14004328" y="1130167"/>
            <a:ext cx="3037713" cy="483870"/>
          </a:xfrm>
          <a:prstGeom prst="rect">
            <a:avLst/>
          </a:prstGeom>
        </p:spPr>
        <p:txBody>
          <a:bodyPr lIns="0" tIns="0" rIns="0" bIns="0" rtlCol="0" anchor="t">
            <a:spAutoFit/>
          </a:bodyPr>
          <a:lstStyle/>
          <a:p>
            <a:pPr algn="r">
              <a:lnSpc>
                <a:spcPts val="3779"/>
              </a:lnSpc>
              <a:spcBef>
                <a:spcPct val="0"/>
              </a:spcBef>
            </a:pPr>
            <a:r>
              <a:rPr lang="en-US" sz="2699">
                <a:solidFill>
                  <a:srgbClr val="FFFFFF"/>
                </a:solidFill>
                <a:latin typeface="Poppins"/>
                <a:ea typeface="Poppins"/>
                <a:cs typeface="Poppins"/>
                <a:sym typeface="Poppins"/>
              </a:rPr>
              <a:t>Major Project</a:t>
            </a:r>
          </a:p>
        </p:txBody>
      </p:sp>
      <p:sp>
        <p:nvSpPr>
          <p:cNvPr id="10" name="TextBox 10"/>
          <p:cNvSpPr txBox="1"/>
          <p:nvPr/>
        </p:nvSpPr>
        <p:spPr>
          <a:xfrm>
            <a:off x="12347314" y="9133525"/>
            <a:ext cx="4911986" cy="441325"/>
          </a:xfrm>
          <a:prstGeom prst="rect">
            <a:avLst/>
          </a:prstGeom>
        </p:spPr>
        <p:txBody>
          <a:bodyPr lIns="0" tIns="0" rIns="0" bIns="0" rtlCol="0" anchor="t">
            <a:spAutoFit/>
          </a:bodyPr>
          <a:lstStyle/>
          <a:p>
            <a:pPr marL="0" lvl="0" indent="0" algn="r">
              <a:lnSpc>
                <a:spcPts val="3499"/>
              </a:lnSpc>
              <a:spcBef>
                <a:spcPct val="0"/>
              </a:spcBef>
            </a:pPr>
            <a:r>
              <a:rPr lang="en-US" sz="2499" dirty="0">
                <a:solidFill>
                  <a:srgbClr val="FFFFFF"/>
                </a:solidFill>
                <a:latin typeface="Poppins"/>
                <a:ea typeface="Poppins"/>
                <a:cs typeface="Poppins"/>
                <a:sym typeface="Poppins"/>
                <a:hlinkClick r:id="rId4"/>
              </a:rPr>
              <a:t>https://shorturl.at/s01LK</a:t>
            </a:r>
            <a:endParaRPr lang="en-US" sz="2499" dirty="0">
              <a:solidFill>
                <a:srgbClr val="FFFFFF"/>
              </a:solidFill>
              <a:latin typeface="Poppins"/>
              <a:ea typeface="Poppins"/>
              <a:cs typeface="Poppins"/>
              <a:sym typeface="Poppins"/>
            </a:endParaRPr>
          </a:p>
        </p:txBody>
      </p:sp>
      <p:sp>
        <p:nvSpPr>
          <p:cNvPr id="11" name="Freeform 11"/>
          <p:cNvSpPr/>
          <p:nvPr/>
        </p:nvSpPr>
        <p:spPr>
          <a:xfrm>
            <a:off x="1028700" y="8255873"/>
            <a:ext cx="860834" cy="1002427"/>
          </a:xfrm>
          <a:custGeom>
            <a:avLst/>
            <a:gdLst/>
            <a:ahLst/>
            <a:cxnLst/>
            <a:rect l="l" t="t" r="r" b="b"/>
            <a:pathLst>
              <a:path w="860834" h="1002427">
                <a:moveTo>
                  <a:pt x="0" y="0"/>
                </a:moveTo>
                <a:lnTo>
                  <a:pt x="860834" y="0"/>
                </a:lnTo>
                <a:lnTo>
                  <a:pt x="860834" y="1002427"/>
                </a:lnTo>
                <a:lnTo>
                  <a:pt x="0" y="1002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sp>
        <p:nvSpPr>
          <p:cNvPr id="3" name="TextBox 3"/>
          <p:cNvSpPr txBox="1"/>
          <p:nvPr/>
        </p:nvSpPr>
        <p:spPr>
          <a:xfrm>
            <a:off x="1028700" y="1066800"/>
            <a:ext cx="9303103" cy="914738"/>
          </a:xfrm>
          <a:prstGeom prst="rect">
            <a:avLst/>
          </a:prstGeom>
        </p:spPr>
        <p:txBody>
          <a:bodyPr lIns="0" tIns="0" rIns="0" bIns="0" rtlCol="0" anchor="t">
            <a:spAutoFit/>
          </a:bodyPr>
          <a:lstStyle/>
          <a:p>
            <a:pPr algn="l">
              <a:lnSpc>
                <a:spcPts val="3528"/>
              </a:lnSpc>
            </a:pPr>
            <a:r>
              <a:rPr lang="en-US" sz="3600" b="1" dirty="0">
                <a:solidFill>
                  <a:srgbClr val="FFFFFF"/>
                </a:solidFill>
                <a:latin typeface="Poppins Bold"/>
                <a:ea typeface="Poppins Bold"/>
                <a:cs typeface="Poppins Bold"/>
                <a:sym typeface="Poppins Bold"/>
              </a:rPr>
              <a:t> Future Scope</a:t>
            </a:r>
          </a:p>
          <a:p>
            <a:pPr marL="0" lvl="0" indent="0" algn="l">
              <a:lnSpc>
                <a:spcPts val="3528"/>
              </a:lnSpc>
            </a:pPr>
            <a:endParaRPr lang="en-US" sz="3600" b="1" dirty="0">
              <a:solidFill>
                <a:srgbClr val="FFFFFF"/>
              </a:solidFill>
              <a:latin typeface="Poppins Bold"/>
              <a:ea typeface="Poppins Bold"/>
              <a:cs typeface="Poppins Bold"/>
              <a:sym typeface="Poppins Bold"/>
            </a:endParaRPr>
          </a:p>
        </p:txBody>
      </p:sp>
      <p:sp>
        <p:nvSpPr>
          <p:cNvPr id="4" name="TextBox 4"/>
          <p:cNvSpPr txBox="1"/>
          <p:nvPr/>
        </p:nvSpPr>
        <p:spPr>
          <a:xfrm>
            <a:off x="1028700" y="1682484"/>
            <a:ext cx="16230600" cy="4117340"/>
          </a:xfrm>
          <a:prstGeom prst="rect">
            <a:avLst/>
          </a:prstGeom>
        </p:spPr>
        <p:txBody>
          <a:bodyPr lIns="0" tIns="0" rIns="0" bIns="0" rtlCol="0" anchor="t">
            <a:spAutoFit/>
          </a:bodyPr>
          <a:lstStyle/>
          <a:p>
            <a:pPr algn="l">
              <a:lnSpc>
                <a:spcPts val="4059"/>
              </a:lnSpc>
            </a:pPr>
            <a:r>
              <a:rPr lang="en-US" sz="2899">
                <a:solidFill>
                  <a:srgbClr val="FFFFFF"/>
                </a:solidFill>
                <a:latin typeface="Poppins"/>
                <a:ea typeface="Poppins"/>
                <a:cs typeface="Poppins"/>
                <a:sym typeface="Poppins"/>
              </a:rPr>
              <a:t>To further enhance the utility of this project, future iterations will focus on:</a:t>
            </a:r>
          </a:p>
          <a:p>
            <a:pPr marL="626107" lvl="1" indent="-313054" algn="l">
              <a:lnSpc>
                <a:spcPts val="4059"/>
              </a:lnSpc>
              <a:buFont typeface="Arial"/>
              <a:buChar char="•"/>
            </a:pPr>
            <a:r>
              <a:rPr lang="en-US" sz="2899">
                <a:solidFill>
                  <a:srgbClr val="FFFFFF"/>
                </a:solidFill>
                <a:latin typeface="Poppins"/>
                <a:ea typeface="Poppins"/>
                <a:cs typeface="Poppins"/>
                <a:sym typeface="Poppins"/>
              </a:rPr>
              <a:t>Advanced College Prediction: Implementing a statistical recommendation engine that suggests the most probable IIT and branch options based on a candidate's rank, category, and gender.</a:t>
            </a:r>
          </a:p>
          <a:p>
            <a:pPr marL="626107" lvl="1" indent="-313054" algn="l">
              <a:lnSpc>
                <a:spcPts val="4059"/>
              </a:lnSpc>
              <a:buFont typeface="Arial"/>
              <a:buChar char="•"/>
            </a:pPr>
            <a:r>
              <a:rPr lang="en-US" sz="2899">
                <a:solidFill>
                  <a:srgbClr val="FFFFFF"/>
                </a:solidFill>
                <a:latin typeface="Poppins"/>
                <a:ea typeface="Poppins"/>
                <a:cs typeface="Poppins"/>
                <a:sym typeface="Poppins"/>
              </a:rPr>
              <a:t>Optimized Choice Filling: Integrating JoSAA opening and closing rank data to help students organize their preference lists more effectively during the counseling process.</a:t>
            </a:r>
          </a:p>
          <a:p>
            <a:pPr algn="l">
              <a:lnSpc>
                <a:spcPts val="4059"/>
              </a:lnSpc>
            </a:pPr>
            <a:endParaRPr lang="en-US" sz="2899">
              <a:solidFill>
                <a:srgbClr val="FFFFFF"/>
              </a:solidFill>
              <a:latin typeface="Poppins"/>
              <a:ea typeface="Poppins"/>
              <a:cs typeface="Poppins"/>
              <a:sym typeface="Poppins"/>
            </a:endParaRPr>
          </a:p>
        </p:txBody>
      </p:sp>
      <p:grpSp>
        <p:nvGrpSpPr>
          <p:cNvPr id="5" name="Group 5"/>
          <p:cNvGrpSpPr/>
          <p:nvPr/>
        </p:nvGrpSpPr>
        <p:grpSpPr>
          <a:xfrm>
            <a:off x="-560343" y="9889125"/>
            <a:ext cx="19408687" cy="996493"/>
            <a:chOff x="0" y="0"/>
            <a:chExt cx="5111753" cy="262451"/>
          </a:xfrm>
        </p:grpSpPr>
        <p:sp>
          <p:nvSpPr>
            <p:cNvPr id="6" name="Freeform 6"/>
            <p:cNvSpPr/>
            <p:nvPr/>
          </p:nvSpPr>
          <p:spPr>
            <a:xfrm>
              <a:off x="0" y="0"/>
              <a:ext cx="5111753" cy="262451"/>
            </a:xfrm>
            <a:custGeom>
              <a:avLst/>
              <a:gdLst/>
              <a:ahLst/>
              <a:cxnLst/>
              <a:rect l="l" t="t" r="r" b="b"/>
              <a:pathLst>
                <a:path w="5111753" h="262451">
                  <a:moveTo>
                    <a:pt x="0" y="0"/>
                  </a:moveTo>
                  <a:lnTo>
                    <a:pt x="5111753" y="0"/>
                  </a:lnTo>
                  <a:lnTo>
                    <a:pt x="5111753" y="262451"/>
                  </a:lnTo>
                  <a:lnTo>
                    <a:pt x="0" y="262451"/>
                  </a:lnTo>
                  <a:close/>
                </a:path>
              </a:pathLst>
            </a:custGeom>
            <a:solidFill>
              <a:srgbClr val="5CA3B2"/>
            </a:solidFill>
          </p:spPr>
          <p:txBody>
            <a:bodyPr/>
            <a:lstStyle/>
            <a:p>
              <a:endParaRPr lang="en-IN"/>
            </a:p>
          </p:txBody>
        </p:sp>
        <p:sp>
          <p:nvSpPr>
            <p:cNvPr id="7" name="TextBox 7"/>
            <p:cNvSpPr txBox="1"/>
            <p:nvPr/>
          </p:nvSpPr>
          <p:spPr>
            <a:xfrm>
              <a:off x="0" y="-57150"/>
              <a:ext cx="5111753" cy="319601"/>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4042428" y="1028700"/>
            <a:ext cx="642386" cy="729984"/>
          </a:xfrm>
          <a:custGeom>
            <a:avLst/>
            <a:gdLst/>
            <a:ahLst/>
            <a:cxnLst/>
            <a:rect l="l" t="t" r="r" b="b"/>
            <a:pathLst>
              <a:path w="642386" h="729984">
                <a:moveTo>
                  <a:pt x="0" y="0"/>
                </a:moveTo>
                <a:lnTo>
                  <a:pt x="642387" y="0"/>
                </a:lnTo>
                <a:lnTo>
                  <a:pt x="642387" y="729984"/>
                </a:lnTo>
                <a:lnTo>
                  <a:pt x="0" y="72998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9" name="TextBox 9"/>
          <p:cNvSpPr txBox="1"/>
          <p:nvPr/>
        </p:nvSpPr>
        <p:spPr>
          <a:xfrm>
            <a:off x="14004328" y="1130167"/>
            <a:ext cx="3037713" cy="483870"/>
          </a:xfrm>
          <a:prstGeom prst="rect">
            <a:avLst/>
          </a:prstGeom>
        </p:spPr>
        <p:txBody>
          <a:bodyPr lIns="0" tIns="0" rIns="0" bIns="0" rtlCol="0" anchor="t">
            <a:spAutoFit/>
          </a:bodyPr>
          <a:lstStyle/>
          <a:p>
            <a:pPr algn="r">
              <a:lnSpc>
                <a:spcPts val="3779"/>
              </a:lnSpc>
              <a:spcBef>
                <a:spcPct val="0"/>
              </a:spcBef>
            </a:pPr>
            <a:r>
              <a:rPr lang="en-US" sz="2699">
                <a:solidFill>
                  <a:srgbClr val="FFFFFF"/>
                </a:solidFill>
                <a:latin typeface="Poppins"/>
                <a:ea typeface="Poppins"/>
                <a:cs typeface="Poppins"/>
                <a:sym typeface="Poppins"/>
              </a:rPr>
              <a:t>Major Project</a:t>
            </a:r>
          </a:p>
        </p:txBody>
      </p:sp>
      <p:sp>
        <p:nvSpPr>
          <p:cNvPr id="10" name="TextBox 10"/>
          <p:cNvSpPr txBox="1"/>
          <p:nvPr/>
        </p:nvSpPr>
        <p:spPr>
          <a:xfrm>
            <a:off x="12347314" y="9133525"/>
            <a:ext cx="4911986" cy="441325"/>
          </a:xfrm>
          <a:prstGeom prst="rect">
            <a:avLst/>
          </a:prstGeom>
        </p:spPr>
        <p:txBody>
          <a:bodyPr lIns="0" tIns="0" rIns="0" bIns="0" rtlCol="0" anchor="t">
            <a:spAutoFit/>
          </a:bodyPr>
          <a:lstStyle/>
          <a:p>
            <a:pPr marL="0" lvl="0" indent="0" algn="r">
              <a:lnSpc>
                <a:spcPts val="3499"/>
              </a:lnSpc>
              <a:spcBef>
                <a:spcPct val="0"/>
              </a:spcBef>
            </a:pPr>
            <a:r>
              <a:rPr lang="en-US" sz="2499" dirty="0">
                <a:solidFill>
                  <a:srgbClr val="FFFFFF"/>
                </a:solidFill>
                <a:latin typeface="Poppins"/>
                <a:ea typeface="Poppins"/>
                <a:cs typeface="Poppins"/>
                <a:sym typeface="Poppins"/>
                <a:hlinkClick r:id="rId4"/>
              </a:rPr>
              <a:t>https://shorturl.at/s01LK</a:t>
            </a:r>
            <a:endParaRPr lang="en-US" sz="2499" dirty="0">
              <a:solidFill>
                <a:srgbClr val="FFFFFF"/>
              </a:solidFill>
              <a:latin typeface="Poppins"/>
              <a:ea typeface="Poppins"/>
              <a:cs typeface="Poppins"/>
              <a:sym typeface="Poppins"/>
            </a:endParaRPr>
          </a:p>
        </p:txBody>
      </p:sp>
      <p:sp>
        <p:nvSpPr>
          <p:cNvPr id="11" name="Freeform 11"/>
          <p:cNvSpPr/>
          <p:nvPr/>
        </p:nvSpPr>
        <p:spPr>
          <a:xfrm>
            <a:off x="1028700" y="8255873"/>
            <a:ext cx="860834" cy="1002427"/>
          </a:xfrm>
          <a:custGeom>
            <a:avLst/>
            <a:gdLst/>
            <a:ahLst/>
            <a:cxnLst/>
            <a:rect l="l" t="t" r="r" b="b"/>
            <a:pathLst>
              <a:path w="860834" h="1002427">
                <a:moveTo>
                  <a:pt x="0" y="0"/>
                </a:moveTo>
                <a:lnTo>
                  <a:pt x="860834" y="0"/>
                </a:lnTo>
                <a:lnTo>
                  <a:pt x="860834" y="1002427"/>
                </a:lnTo>
                <a:lnTo>
                  <a:pt x="0" y="1002427"/>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lang="en-IN"/>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38888" b="-38888"/>
            </a:stretch>
          </a:blipFill>
        </p:spPr>
        <p:txBody>
          <a:bodyPr/>
          <a:lstStyle/>
          <a:p>
            <a:endParaRPr lang="en-IN"/>
          </a:p>
        </p:txBody>
      </p:sp>
      <p:grpSp>
        <p:nvGrpSpPr>
          <p:cNvPr id="3" name="Group 3"/>
          <p:cNvGrpSpPr/>
          <p:nvPr/>
        </p:nvGrpSpPr>
        <p:grpSpPr>
          <a:xfrm>
            <a:off x="-560343" y="9889125"/>
            <a:ext cx="19408687" cy="996493"/>
            <a:chOff x="0" y="0"/>
            <a:chExt cx="5111753" cy="262451"/>
          </a:xfrm>
        </p:grpSpPr>
        <p:sp>
          <p:nvSpPr>
            <p:cNvPr id="4" name="Freeform 4"/>
            <p:cNvSpPr/>
            <p:nvPr/>
          </p:nvSpPr>
          <p:spPr>
            <a:xfrm>
              <a:off x="0" y="0"/>
              <a:ext cx="5111753" cy="262451"/>
            </a:xfrm>
            <a:custGeom>
              <a:avLst/>
              <a:gdLst/>
              <a:ahLst/>
              <a:cxnLst/>
              <a:rect l="l" t="t" r="r" b="b"/>
              <a:pathLst>
                <a:path w="5111753" h="262451">
                  <a:moveTo>
                    <a:pt x="0" y="0"/>
                  </a:moveTo>
                  <a:lnTo>
                    <a:pt x="5111753" y="0"/>
                  </a:lnTo>
                  <a:lnTo>
                    <a:pt x="5111753" y="262451"/>
                  </a:lnTo>
                  <a:lnTo>
                    <a:pt x="0" y="262451"/>
                  </a:lnTo>
                  <a:close/>
                </a:path>
              </a:pathLst>
            </a:custGeom>
            <a:solidFill>
              <a:srgbClr val="5CA3B2"/>
            </a:solidFill>
          </p:spPr>
          <p:txBody>
            <a:bodyPr/>
            <a:lstStyle/>
            <a:p>
              <a:endParaRPr lang="en-IN"/>
            </a:p>
          </p:txBody>
        </p:sp>
        <p:sp>
          <p:nvSpPr>
            <p:cNvPr id="5" name="TextBox 5"/>
            <p:cNvSpPr txBox="1"/>
            <p:nvPr/>
          </p:nvSpPr>
          <p:spPr>
            <a:xfrm>
              <a:off x="0" y="-57150"/>
              <a:ext cx="5111753" cy="319601"/>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4615651" y="3178002"/>
            <a:ext cx="9056698" cy="1803401"/>
          </a:xfrm>
          <a:prstGeom prst="rect">
            <a:avLst/>
          </a:prstGeom>
        </p:spPr>
        <p:txBody>
          <a:bodyPr lIns="0" tIns="0" rIns="0" bIns="0" rtlCol="0" anchor="t">
            <a:spAutoFit/>
          </a:bodyPr>
          <a:lstStyle/>
          <a:p>
            <a:pPr algn="ctr">
              <a:lnSpc>
                <a:spcPts val="13999"/>
              </a:lnSpc>
              <a:spcBef>
                <a:spcPct val="0"/>
              </a:spcBef>
            </a:pPr>
            <a:r>
              <a:rPr lang="en-US" sz="9999" b="1">
                <a:solidFill>
                  <a:srgbClr val="FFFFFF"/>
                </a:solidFill>
                <a:latin typeface="Poppins Bold"/>
                <a:ea typeface="Poppins Bold"/>
                <a:cs typeface="Poppins Bold"/>
                <a:sym typeface="Poppins Bold"/>
              </a:rPr>
              <a:t>Thank you</a:t>
            </a:r>
          </a:p>
        </p:txBody>
      </p:sp>
      <p:grpSp>
        <p:nvGrpSpPr>
          <p:cNvPr id="7" name="Group 7"/>
          <p:cNvGrpSpPr/>
          <p:nvPr/>
        </p:nvGrpSpPr>
        <p:grpSpPr>
          <a:xfrm>
            <a:off x="5670413" y="5384437"/>
            <a:ext cx="6947174" cy="1438812"/>
            <a:chOff x="0" y="0"/>
            <a:chExt cx="1829708" cy="378946"/>
          </a:xfrm>
        </p:grpSpPr>
        <p:sp>
          <p:nvSpPr>
            <p:cNvPr id="8" name="Freeform 8"/>
            <p:cNvSpPr/>
            <p:nvPr/>
          </p:nvSpPr>
          <p:spPr>
            <a:xfrm>
              <a:off x="0" y="0"/>
              <a:ext cx="1829708" cy="378946"/>
            </a:xfrm>
            <a:custGeom>
              <a:avLst/>
              <a:gdLst/>
              <a:ahLst/>
              <a:cxnLst/>
              <a:rect l="l" t="t" r="r" b="b"/>
              <a:pathLst>
                <a:path w="1829708" h="378946">
                  <a:moveTo>
                    <a:pt x="111440" y="0"/>
                  </a:moveTo>
                  <a:lnTo>
                    <a:pt x="1718269" y="0"/>
                  </a:lnTo>
                  <a:cubicBezTo>
                    <a:pt x="1779815" y="0"/>
                    <a:pt x="1829708" y="49893"/>
                    <a:pt x="1829708" y="111440"/>
                  </a:cubicBezTo>
                  <a:lnTo>
                    <a:pt x="1829708" y="267506"/>
                  </a:lnTo>
                  <a:cubicBezTo>
                    <a:pt x="1829708" y="297062"/>
                    <a:pt x="1817968" y="325407"/>
                    <a:pt x="1797068" y="346306"/>
                  </a:cubicBezTo>
                  <a:cubicBezTo>
                    <a:pt x="1776169" y="367205"/>
                    <a:pt x="1747824" y="378946"/>
                    <a:pt x="1718269" y="378946"/>
                  </a:cubicBezTo>
                  <a:lnTo>
                    <a:pt x="111440" y="378946"/>
                  </a:lnTo>
                  <a:cubicBezTo>
                    <a:pt x="81884" y="378946"/>
                    <a:pt x="53539" y="367205"/>
                    <a:pt x="32640" y="346306"/>
                  </a:cubicBezTo>
                  <a:cubicBezTo>
                    <a:pt x="11741" y="325407"/>
                    <a:pt x="0" y="297062"/>
                    <a:pt x="0" y="267506"/>
                  </a:cubicBezTo>
                  <a:lnTo>
                    <a:pt x="0" y="111440"/>
                  </a:lnTo>
                  <a:cubicBezTo>
                    <a:pt x="0" y="81884"/>
                    <a:pt x="11741" y="53539"/>
                    <a:pt x="32640" y="32640"/>
                  </a:cubicBezTo>
                  <a:cubicBezTo>
                    <a:pt x="53539" y="11741"/>
                    <a:pt x="81884" y="0"/>
                    <a:pt x="111440" y="0"/>
                  </a:cubicBezTo>
                  <a:close/>
                </a:path>
              </a:pathLst>
            </a:custGeom>
            <a:ln w="85725" cap="rnd">
              <a:solidFill>
                <a:srgbClr val="5CA3B2"/>
              </a:solidFill>
              <a:prstDash val="solid"/>
              <a:round/>
            </a:ln>
          </p:spPr>
          <p:txBody>
            <a:bodyPr/>
            <a:lstStyle/>
            <a:p>
              <a:endParaRPr lang="en-IN"/>
            </a:p>
          </p:txBody>
        </p:sp>
        <p:sp>
          <p:nvSpPr>
            <p:cNvPr id="9" name="TextBox 9"/>
            <p:cNvSpPr txBox="1"/>
            <p:nvPr/>
          </p:nvSpPr>
          <p:spPr>
            <a:xfrm>
              <a:off x="0" y="-57150"/>
              <a:ext cx="1829708" cy="436096"/>
            </a:xfrm>
            <a:prstGeom prst="rect">
              <a:avLst/>
            </a:prstGeom>
          </p:spPr>
          <p:txBody>
            <a:bodyPr lIns="50800" tIns="50800" rIns="50800" bIns="50800" rtlCol="0" anchor="ctr"/>
            <a:lstStyle/>
            <a:p>
              <a:pPr algn="ctr">
                <a:lnSpc>
                  <a:spcPts val="2659"/>
                </a:lnSpc>
                <a:spcBef>
                  <a:spcPct val="0"/>
                </a:spcBef>
              </a:pPr>
              <a:endParaRPr/>
            </a:p>
          </p:txBody>
        </p:sp>
      </p:grpSp>
      <p:sp>
        <p:nvSpPr>
          <p:cNvPr id="10" name="TextBox 10"/>
          <p:cNvSpPr txBox="1"/>
          <p:nvPr/>
        </p:nvSpPr>
        <p:spPr>
          <a:xfrm>
            <a:off x="6101144" y="5733955"/>
            <a:ext cx="6085713" cy="635000"/>
          </a:xfrm>
          <a:prstGeom prst="rect">
            <a:avLst/>
          </a:prstGeom>
        </p:spPr>
        <p:txBody>
          <a:bodyPr lIns="0" tIns="0" rIns="0" bIns="0" rtlCol="0" anchor="t">
            <a:spAutoFit/>
          </a:bodyPr>
          <a:lstStyle/>
          <a:p>
            <a:pPr algn="ctr">
              <a:lnSpc>
                <a:spcPts val="4900"/>
              </a:lnSpc>
              <a:spcBef>
                <a:spcPct val="0"/>
              </a:spcBef>
            </a:pPr>
            <a:r>
              <a:rPr lang="en-US" sz="3500">
                <a:solidFill>
                  <a:srgbClr val="FFFFFF"/>
                </a:solidFill>
                <a:latin typeface="Poppins"/>
                <a:ea typeface="Poppins"/>
                <a:cs typeface="Poppins"/>
                <a:sym typeface="Poppins"/>
              </a:rPr>
              <a:t>for your attention</a:t>
            </a:r>
          </a:p>
        </p:txBody>
      </p:sp>
      <p:sp>
        <p:nvSpPr>
          <p:cNvPr id="11" name="Freeform 11"/>
          <p:cNvSpPr/>
          <p:nvPr/>
        </p:nvSpPr>
        <p:spPr>
          <a:xfrm>
            <a:off x="7535564" y="1028700"/>
            <a:ext cx="642386" cy="729984"/>
          </a:xfrm>
          <a:custGeom>
            <a:avLst/>
            <a:gdLst/>
            <a:ahLst/>
            <a:cxnLst/>
            <a:rect l="l" t="t" r="r" b="b"/>
            <a:pathLst>
              <a:path w="642386" h="729984">
                <a:moveTo>
                  <a:pt x="0" y="0"/>
                </a:moveTo>
                <a:lnTo>
                  <a:pt x="642387" y="0"/>
                </a:lnTo>
                <a:lnTo>
                  <a:pt x="642387" y="729984"/>
                </a:lnTo>
                <a:lnTo>
                  <a:pt x="0" y="729984"/>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IN"/>
          </a:p>
        </p:txBody>
      </p:sp>
      <p:sp>
        <p:nvSpPr>
          <p:cNvPr id="12" name="TextBox 12"/>
          <p:cNvSpPr txBox="1"/>
          <p:nvPr/>
        </p:nvSpPr>
        <p:spPr>
          <a:xfrm>
            <a:off x="8311301" y="1196842"/>
            <a:ext cx="3037713" cy="441325"/>
          </a:xfrm>
          <a:prstGeom prst="rect">
            <a:avLst/>
          </a:prstGeom>
        </p:spPr>
        <p:txBody>
          <a:bodyPr lIns="0" tIns="0" rIns="0" bIns="0" rtlCol="0" anchor="t">
            <a:spAutoFit/>
          </a:bodyPr>
          <a:lstStyle/>
          <a:p>
            <a:pPr algn="just">
              <a:lnSpc>
                <a:spcPts val="3499"/>
              </a:lnSpc>
              <a:spcBef>
                <a:spcPct val="0"/>
              </a:spcBef>
            </a:pPr>
            <a:r>
              <a:rPr lang="en-US" sz="2499">
                <a:solidFill>
                  <a:srgbClr val="FFFFFF"/>
                </a:solidFill>
                <a:latin typeface="Poppins"/>
                <a:ea typeface="Poppins"/>
                <a:cs typeface="Poppins"/>
                <a:sym typeface="Poppins"/>
              </a:rPr>
              <a:t>Major Project</a:t>
            </a:r>
          </a:p>
        </p:txBody>
      </p:sp>
      <p:sp>
        <p:nvSpPr>
          <p:cNvPr id="13" name="Freeform 13"/>
          <p:cNvSpPr/>
          <p:nvPr/>
        </p:nvSpPr>
        <p:spPr>
          <a:xfrm>
            <a:off x="16398466" y="8255873"/>
            <a:ext cx="860834" cy="1002427"/>
          </a:xfrm>
          <a:custGeom>
            <a:avLst/>
            <a:gdLst/>
            <a:ahLst/>
            <a:cxnLst/>
            <a:rect l="l" t="t" r="r" b="b"/>
            <a:pathLst>
              <a:path w="860834" h="1002427">
                <a:moveTo>
                  <a:pt x="0" y="0"/>
                </a:moveTo>
                <a:lnTo>
                  <a:pt x="860834" y="0"/>
                </a:lnTo>
                <a:lnTo>
                  <a:pt x="860834" y="1002427"/>
                </a:lnTo>
                <a:lnTo>
                  <a:pt x="0" y="100242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
        <p:nvSpPr>
          <p:cNvPr id="14" name="Freeform 14"/>
          <p:cNvSpPr/>
          <p:nvPr/>
        </p:nvSpPr>
        <p:spPr>
          <a:xfrm>
            <a:off x="1028700" y="1028700"/>
            <a:ext cx="860834" cy="1002427"/>
          </a:xfrm>
          <a:custGeom>
            <a:avLst/>
            <a:gdLst/>
            <a:ahLst/>
            <a:cxnLst/>
            <a:rect l="l" t="t" r="r" b="b"/>
            <a:pathLst>
              <a:path w="860834" h="1002427">
                <a:moveTo>
                  <a:pt x="0" y="0"/>
                </a:moveTo>
                <a:lnTo>
                  <a:pt x="860834" y="0"/>
                </a:lnTo>
                <a:lnTo>
                  <a:pt x="860834" y="1002427"/>
                </a:lnTo>
                <a:lnTo>
                  <a:pt x="0" y="1002427"/>
                </a:lnTo>
                <a:lnTo>
                  <a:pt x="0"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n-IN"/>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TotalTime>
  <Words>1033</Words>
  <Application>Microsoft Office PowerPoint</Application>
  <PresentationFormat>Custom</PresentationFormat>
  <Paragraphs>65</Paragraphs>
  <Slides>9</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9</vt:i4>
      </vt:variant>
    </vt:vector>
  </HeadingPairs>
  <TitlesOfParts>
    <vt:vector size="14" baseType="lpstr">
      <vt:lpstr>Arial</vt:lpstr>
      <vt:lpstr>Poppins Bold</vt:lpstr>
      <vt:lpstr>Poppins</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Comprehensive JEE Advanced Analysis</dc:title>
  <cp:lastModifiedBy>Madan V</cp:lastModifiedBy>
  <cp:revision>2</cp:revision>
  <dcterms:created xsi:type="dcterms:W3CDTF">2006-08-16T00:00:00Z</dcterms:created>
  <dcterms:modified xsi:type="dcterms:W3CDTF">2026-04-27T04:28:10Z</dcterms:modified>
  <dc:identifier>DAHIAg9tI5I</dc:identifier>
</cp:coreProperties>
</file>